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embeddedFontLst>
    <p:embeddedFont>
      <p:font typeface="Calibri (MS) Bold" charset="1" panose="020F0702030404030204"/>
      <p:regular r:id="rId30"/>
    </p:embeddedFont>
    <p:embeddedFont>
      <p:font typeface="Cambria Bold" charset="1" panose="02040803050406030204"/>
      <p:regular r:id="rId31"/>
    </p:embeddedFont>
    <p:embeddedFont>
      <p:font typeface="Calibri (MS)" charset="1" panose="020F0502020204030204"/>
      <p:regular r:id="rId32"/>
    </p:embeddedFont>
    <p:embeddedFont>
      <p:font typeface="Open Sans 1 Bold" charset="1" panose="00000000000000000000"/>
      <p:regular r:id="rId33"/>
    </p:embeddedFont>
    <p:embeddedFont>
      <p:font typeface="Open Sans 1" charset="1" panose="00000000000000000000"/>
      <p:regular r:id="rId34"/>
    </p:embeddedFont>
    <p:embeddedFont>
      <p:font typeface="Open Sans 1 Italics" charset="1" panose="00000000000000000000"/>
      <p:regular r:id="rId35"/>
    </p:embeddedFont>
    <p:embeddedFont>
      <p:font typeface="Calibri (MS) Italics" charset="1" panose="020F05020202040A0204"/>
      <p:regular r:id="rId36"/>
    </p:embeddedFont>
    <p:embeddedFont>
      <p:font typeface="Open Sans 2 Bold" charset="1" panose="020B0806030504020204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3.jpeg" Type="http://schemas.openxmlformats.org/officeDocument/2006/relationships/image"/><Relationship Id="rId4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3.jpe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3.jpe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3.jpe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3.jpe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3.jpe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11" Target="../embeddings/oleObject4.bin" Type="http://schemas.openxmlformats.org/officeDocument/2006/relationships/oleObject"/><Relationship Id="rId2" Target="../media/image24.png" Type="http://schemas.openxmlformats.org/officeDocument/2006/relationships/image"/><Relationship Id="rId3" Target="../media/image3.jpeg" Type="http://schemas.openxmlformats.org/officeDocument/2006/relationships/image"/><Relationship Id="rId4" Target="../media/image25.png" Type="http://schemas.openxmlformats.org/officeDocument/2006/relationships/image"/><Relationship Id="rId5" Target="../embeddings/oleObject1.bin" Type="http://schemas.openxmlformats.org/officeDocument/2006/relationships/oleObject"/><Relationship Id="rId6" Target="../media/image26.png" Type="http://schemas.openxmlformats.org/officeDocument/2006/relationships/image"/><Relationship Id="rId7" Target="../embeddings/oleObject2.bin" Type="http://schemas.openxmlformats.org/officeDocument/2006/relationships/oleObject"/><Relationship Id="rId8" Target="../media/image27.png" Type="http://schemas.openxmlformats.org/officeDocument/2006/relationships/image"/><Relationship Id="rId9" Target="../embeddings/oleObject3.bin" Type="http://schemas.openxmlformats.org/officeDocument/2006/relationships/oleObjec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3.jpeg" Type="http://schemas.openxmlformats.org/officeDocument/2006/relationships/image"/><Relationship Id="rId4" Target="../media/image29.png" Type="http://schemas.openxmlformats.org/officeDocument/2006/relationships/image"/><Relationship Id="rId5" Target="../embeddings/oleObject5.bin" Type="http://schemas.openxmlformats.org/officeDocument/2006/relationships/oleObject"/><Relationship Id="rId6" Target="../media/image30.png" Type="http://schemas.openxmlformats.org/officeDocument/2006/relationships/image"/><Relationship Id="rId7" Target="../embeddings/oleObject6.bin" Type="http://schemas.openxmlformats.org/officeDocument/2006/relationships/oleObjec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3.jpeg" Type="http://schemas.openxmlformats.org/officeDocument/2006/relationships/image"/><Relationship Id="rId4" Target="../media/image31.png" Type="http://schemas.openxmlformats.org/officeDocument/2006/relationships/image"/><Relationship Id="rId5" Target="../media/image3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3.jpeg" Type="http://schemas.openxmlformats.org/officeDocument/2006/relationships/image"/><Relationship Id="rId4" Target="../media/image33.png" Type="http://schemas.openxmlformats.org/officeDocument/2006/relationships/image"/><Relationship Id="rId5" Target="../media/image34.png" Type="http://schemas.openxmlformats.org/officeDocument/2006/relationships/image"/><Relationship Id="rId6" Target="../media/image3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3.jpeg" Type="http://schemas.openxmlformats.org/officeDocument/2006/relationships/image"/><Relationship Id="rId4" Target="../media/image36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3.jpeg" Type="http://schemas.openxmlformats.org/officeDocument/2006/relationships/image"/><Relationship Id="rId4" Target="../media/image37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3.jpeg" Type="http://schemas.openxmlformats.org/officeDocument/2006/relationships/image"/><Relationship Id="rId4" Target="../media/image38.png" Type="http://schemas.openxmlformats.org/officeDocument/2006/relationships/image"/><Relationship Id="rId5" Target="../embeddings/oleObject7.bin" Type="http://schemas.openxmlformats.org/officeDocument/2006/relationships/oleObjec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3.jpeg" Type="http://schemas.openxmlformats.org/officeDocument/2006/relationships/image"/><Relationship Id="rId4" Target="../media/image39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3.jpeg" Type="http://schemas.openxmlformats.org/officeDocument/2006/relationships/image"/><Relationship Id="rId4" Target="../media/image41.png" Type="http://schemas.openxmlformats.org/officeDocument/2006/relationships/image"/><Relationship Id="rId5" Target="../media/image42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Relationship Id="rId3" Target="../media/image3.jpeg" Type="http://schemas.openxmlformats.org/officeDocument/2006/relationships/image"/><Relationship Id="rId4" Target="../media/image40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Relationship Id="rId3" Target="../media/image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47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415692" y="-3558619"/>
            <a:ext cx="8503920" cy="8503920"/>
            <a:chOff x="0" y="0"/>
            <a:chExt cx="11338560" cy="11338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38560" cy="11338560"/>
            </a:xfrm>
            <a:custGeom>
              <a:avLst/>
              <a:gdLst/>
              <a:ahLst/>
              <a:cxnLst/>
              <a:rect r="r" b="b" t="t" l="l"/>
              <a:pathLst>
                <a:path h="11338560" w="11338560">
                  <a:moveTo>
                    <a:pt x="0" y="5669280"/>
                  </a:moveTo>
                  <a:cubicBezTo>
                    <a:pt x="0" y="2538222"/>
                    <a:pt x="2538222" y="0"/>
                    <a:pt x="5669280" y="0"/>
                  </a:cubicBezTo>
                  <a:cubicBezTo>
                    <a:pt x="8800338" y="0"/>
                    <a:pt x="11338560" y="2538222"/>
                    <a:pt x="11338560" y="5669280"/>
                  </a:cubicBezTo>
                  <a:cubicBezTo>
                    <a:pt x="11338560" y="8800338"/>
                    <a:pt x="8800338" y="11338560"/>
                    <a:pt x="5669280" y="11338560"/>
                  </a:cubicBezTo>
                  <a:cubicBezTo>
                    <a:pt x="2538222" y="11338560"/>
                    <a:pt x="0" y="8800338"/>
                    <a:pt x="0" y="5669280"/>
                  </a:cubicBezTo>
                  <a:close/>
                </a:path>
              </a:pathLst>
            </a:custGeom>
            <a:solidFill>
              <a:srgbClr val="15223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787292" y="-2187019"/>
            <a:ext cx="5760720" cy="5760720"/>
            <a:chOff x="0" y="0"/>
            <a:chExt cx="7680960" cy="76809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80960" cy="7680960"/>
            </a:xfrm>
            <a:custGeom>
              <a:avLst/>
              <a:gdLst/>
              <a:ahLst/>
              <a:cxnLst/>
              <a:rect r="r" b="b" t="t" l="l"/>
              <a:pathLst>
                <a:path h="7680960" w="7680960">
                  <a:moveTo>
                    <a:pt x="0" y="3840480"/>
                  </a:moveTo>
                  <a:cubicBezTo>
                    <a:pt x="0" y="1719453"/>
                    <a:pt x="1719453" y="0"/>
                    <a:pt x="3840480" y="0"/>
                  </a:cubicBezTo>
                  <a:cubicBezTo>
                    <a:pt x="5961507" y="0"/>
                    <a:pt x="7680960" y="1719453"/>
                    <a:pt x="7680960" y="3840480"/>
                  </a:cubicBezTo>
                  <a:cubicBezTo>
                    <a:pt x="7680960" y="5961507"/>
                    <a:pt x="5961507" y="7680960"/>
                    <a:pt x="3840480" y="7680960"/>
                  </a:cubicBezTo>
                  <a:cubicBezTo>
                    <a:pt x="1719453" y="7680960"/>
                    <a:pt x="0" y="5961507"/>
                    <a:pt x="0" y="3840480"/>
                  </a:cubicBezTo>
                  <a:close/>
                </a:path>
              </a:pathLst>
            </a:custGeom>
            <a:solidFill>
              <a:srgbClr val="1B2C49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953152" y="-1021159"/>
            <a:ext cx="3429000" cy="3429000"/>
            <a:chOff x="0" y="0"/>
            <a:chExt cx="4572000" cy="4572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572000" cy="4572000"/>
            </a:xfrm>
            <a:custGeom>
              <a:avLst/>
              <a:gdLst/>
              <a:ahLst/>
              <a:cxnLst/>
              <a:rect r="r" b="b" t="t" l="l"/>
              <a:pathLst>
                <a:path h="4572000" w="4572000">
                  <a:moveTo>
                    <a:pt x="0" y="2286000"/>
                  </a:moveTo>
                  <a:cubicBezTo>
                    <a:pt x="0" y="1023493"/>
                    <a:pt x="1023493" y="0"/>
                    <a:pt x="2286000" y="0"/>
                  </a:cubicBezTo>
                  <a:cubicBezTo>
                    <a:pt x="3548507" y="0"/>
                    <a:pt x="4572000" y="1023493"/>
                    <a:pt x="4572000" y="2286000"/>
                  </a:cubicBezTo>
                  <a:cubicBezTo>
                    <a:pt x="4572000" y="3548507"/>
                    <a:pt x="3548507" y="4572000"/>
                    <a:pt x="2286000" y="4572000"/>
                  </a:cubicBezTo>
                  <a:cubicBezTo>
                    <a:pt x="1023493" y="4572000"/>
                    <a:pt x="0" y="3548507"/>
                    <a:pt x="0" y="2286000"/>
                  </a:cubicBezTo>
                  <a:close/>
                </a:path>
              </a:pathLst>
            </a:custGeom>
            <a:solidFill>
              <a:srgbClr val="2B4772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-2774486" y="3284822"/>
            <a:ext cx="14240231" cy="2990449"/>
          </a:xfrm>
          <a:custGeom>
            <a:avLst/>
            <a:gdLst/>
            <a:ahLst/>
            <a:cxnLst/>
            <a:rect r="r" b="b" t="t" l="l"/>
            <a:pathLst>
              <a:path h="2990449" w="14240231">
                <a:moveTo>
                  <a:pt x="0" y="0"/>
                </a:moveTo>
                <a:lnTo>
                  <a:pt x="14240232" y="0"/>
                </a:lnTo>
                <a:lnTo>
                  <a:pt x="14240232" y="2990448"/>
                </a:lnTo>
                <a:lnTo>
                  <a:pt x="0" y="29904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12935" y="3463490"/>
            <a:ext cx="13030200" cy="548640"/>
            <a:chOff x="0" y="0"/>
            <a:chExt cx="17373600" cy="731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37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12769" r="0" b="-412769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7373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E8BF5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PROYECTO APT · CAPSTONE PTY4614 · DEFINICIÓN PROYECTO APT, FASE 1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44355" y="4012130"/>
            <a:ext cx="13716000" cy="1371600"/>
            <a:chOff x="0" y="0"/>
            <a:chExt cx="18288000" cy="1828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288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8288000" cy="184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920"/>
                </a:lnSpc>
              </a:pPr>
              <a:r>
                <a:rPr lang="en-US" b="true" sz="660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Aprueba Administración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12935" y="5315150"/>
            <a:ext cx="13030200" cy="960120"/>
            <a:chOff x="0" y="0"/>
            <a:chExt cx="17373600" cy="12801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3736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4439" r="0" b="-214439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17373600" cy="1346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>
                  <a:solidFill>
                    <a:srgbClr val="E8BF5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Módulo de pasarela de pago y suscripción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12935" y="7008695"/>
            <a:ext cx="10091134" cy="2234617"/>
            <a:chOff x="0" y="0"/>
            <a:chExt cx="13102615" cy="290149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102616" cy="2901490"/>
            </a:xfrm>
            <a:custGeom>
              <a:avLst/>
              <a:gdLst/>
              <a:ahLst/>
              <a:cxnLst/>
              <a:rect r="r" b="b" t="t" l="l"/>
              <a:pathLst>
                <a:path h="2901490" w="13102616">
                  <a:moveTo>
                    <a:pt x="0" y="0"/>
                  </a:moveTo>
                  <a:lnTo>
                    <a:pt x="13102616" y="0"/>
                  </a:lnTo>
                  <a:lnTo>
                    <a:pt x="13102616" y="2901490"/>
                  </a:lnTo>
                  <a:lnTo>
                    <a:pt x="0" y="29014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489" r="67897" b="5599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9525"/>
              <a:ext cx="13102615" cy="2891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71">
                  <a:solidFill>
                    <a:srgbClr val="D7DEEC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EQUIPO: Sebastián Araya, César Garrido y Thiare Gómez</a:t>
              </a: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  <a:r>
                <a:rPr lang="en-US" b="true" sz="1800" spc="171">
                  <a:solidFill>
                    <a:srgbClr val="D7DEEC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DOCENTE: Luis Bravo</a:t>
              </a: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  <a:r>
                <a:rPr lang="en-US" b="true" sz="1800" spc="171">
                  <a:solidFill>
                    <a:srgbClr val="D7DEEC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EMPRESA COLABORADORA: Alloxentric</a:t>
              </a: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  <a:r>
                <a:rPr lang="en-US" b="true" sz="1800" spc="171">
                  <a:solidFill>
                    <a:srgbClr val="D7DEEC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INSTITUCIÓN: Duoc UC - Escuela de Informática y Telecomunicaciones</a:t>
              </a:r>
            </a:p>
            <a:p>
              <a:pPr algn="l">
                <a:lnSpc>
                  <a:spcPts val="216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1553011" y="3992923"/>
            <a:ext cx="6929933" cy="8105185"/>
          </a:xfrm>
          <a:custGeom>
            <a:avLst/>
            <a:gdLst/>
            <a:ahLst/>
            <a:cxnLst/>
            <a:rect r="r" b="b" t="t" l="l"/>
            <a:pathLst>
              <a:path h="8105185" w="6929933">
                <a:moveTo>
                  <a:pt x="0" y="0"/>
                </a:moveTo>
                <a:lnTo>
                  <a:pt x="6929934" y="0"/>
                </a:lnTo>
                <a:lnTo>
                  <a:pt x="6929934" y="8105184"/>
                </a:lnTo>
                <a:lnTo>
                  <a:pt x="0" y="81051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086760" y="863328"/>
            <a:ext cx="1945940" cy="1945940"/>
            <a:chOff x="0" y="0"/>
            <a:chExt cx="1645920" cy="16459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810949" y="891809"/>
            <a:ext cx="2497562" cy="1660284"/>
          </a:xfrm>
          <a:custGeom>
            <a:avLst/>
            <a:gdLst/>
            <a:ahLst/>
            <a:cxnLst/>
            <a:rect r="r" b="b" t="t" l="l"/>
            <a:pathLst>
              <a:path h="1660284" w="2497562">
                <a:moveTo>
                  <a:pt x="0" y="0"/>
                </a:moveTo>
                <a:lnTo>
                  <a:pt x="2497562" y="0"/>
                </a:lnTo>
                <a:lnTo>
                  <a:pt x="2497562" y="1660284"/>
                </a:lnTo>
                <a:lnTo>
                  <a:pt x="0" y="166028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1226658"/>
            <a:ext cx="1234440" cy="1234440"/>
            <a:chOff x="0" y="0"/>
            <a:chExt cx="164592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7F9BC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71093" y="1374791"/>
            <a:ext cx="938174" cy="938174"/>
            <a:chOff x="0" y="0"/>
            <a:chExt cx="1250899" cy="1250899"/>
          </a:xfrm>
        </p:grpSpPr>
        <p:sp>
          <p:nvSpPr>
            <p:cNvPr name="Freeform 5" id="5" descr="/home/claude/deck_assets/plataforma.png"/>
            <p:cNvSpPr/>
            <p:nvPr/>
          </p:nvSpPr>
          <p:spPr>
            <a:xfrm flipH="false" flipV="false" rot="0">
              <a:off x="0" y="0"/>
              <a:ext cx="1250950" cy="1250950"/>
            </a:xfrm>
            <a:custGeom>
              <a:avLst/>
              <a:gdLst/>
              <a:ahLst/>
              <a:cxnLst/>
              <a:rect r="r" b="b" t="t" l="l"/>
              <a:pathLst>
                <a:path h="1250950" w="1250950">
                  <a:moveTo>
                    <a:pt x="0" y="0"/>
                  </a:moveTo>
                  <a:lnTo>
                    <a:pt x="1250950" y="0"/>
                  </a:lnTo>
                  <a:lnTo>
                    <a:pt x="1250950" y="1250950"/>
                  </a:lnTo>
                  <a:lnTo>
                    <a:pt x="0" y="1250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4" b="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331720" y="1158078"/>
            <a:ext cx="14401800" cy="411480"/>
            <a:chOff x="0" y="0"/>
            <a:chExt cx="1920240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202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976" r="0" b="-63197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9202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D9A52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CONTEXTO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194560" y="192081"/>
            <a:ext cx="9063159" cy="3303594"/>
            <a:chOff x="0" y="0"/>
            <a:chExt cx="12084212" cy="440479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084212" cy="4404792"/>
            </a:xfrm>
            <a:custGeom>
              <a:avLst/>
              <a:gdLst/>
              <a:ahLst/>
              <a:cxnLst/>
              <a:rect r="r" b="b" t="t" l="l"/>
              <a:pathLst>
                <a:path h="4404792" w="12084212">
                  <a:moveTo>
                    <a:pt x="0" y="0"/>
                  </a:moveTo>
                  <a:lnTo>
                    <a:pt x="12084212" y="0"/>
                  </a:lnTo>
                  <a:lnTo>
                    <a:pt x="12084212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19" r="-66471" b="-455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2084212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5400"/>
                </a:lnSpc>
              </a:pPr>
              <a:r>
                <a:rPr lang="en-US" sz="4500" b="true">
                  <a:solidFill>
                    <a:srgbClr val="0F17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Aprueba y el problema de negocio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846239" y="3028950"/>
            <a:ext cx="6720840" cy="2400300"/>
            <a:chOff x="0" y="0"/>
            <a:chExt cx="8961120" cy="3200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961120" cy="3200400"/>
            </a:xfrm>
            <a:custGeom>
              <a:avLst/>
              <a:gdLst/>
              <a:ahLst/>
              <a:cxnLst/>
              <a:rect r="r" b="b" t="t" l="l"/>
              <a:pathLst>
                <a:path h="3200400" w="89611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8741664" y="0"/>
                  </a:lnTo>
                  <a:cubicBezTo>
                    <a:pt x="8862822" y="0"/>
                    <a:pt x="8961120" y="98298"/>
                    <a:pt x="8961120" y="219456"/>
                  </a:cubicBezTo>
                  <a:lnTo>
                    <a:pt x="8961120" y="2980944"/>
                  </a:lnTo>
                  <a:cubicBezTo>
                    <a:pt x="8961120" y="3102102"/>
                    <a:pt x="8862822" y="3200400"/>
                    <a:pt x="8741664" y="3200400"/>
                  </a:cubicBezTo>
                  <a:lnTo>
                    <a:pt x="219456" y="3200400"/>
                  </a:lnTo>
                  <a:cubicBezTo>
                    <a:pt x="98298" y="3200400"/>
                    <a:pt x="0" y="3102102"/>
                    <a:pt x="0" y="2980944"/>
                  </a:cubicBezTo>
                  <a:close/>
                </a:path>
              </a:pathLst>
            </a:custGeom>
            <a:solidFill>
              <a:srgbClr val="F2F5FA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257719" y="3234690"/>
            <a:ext cx="5897880" cy="1057740"/>
            <a:chOff x="0" y="0"/>
            <a:chExt cx="7863840" cy="14103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863840" cy="1410320"/>
            </a:xfrm>
            <a:custGeom>
              <a:avLst/>
              <a:gdLst/>
              <a:ahLst/>
              <a:cxnLst/>
              <a:rect r="r" b="b" t="t" l="l"/>
              <a:pathLst>
                <a:path h="141032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1410320"/>
                  </a:lnTo>
                  <a:lnTo>
                    <a:pt x="0" y="141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019" r="0" b="-5727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7863840" cy="1419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6120"/>
                </a:lnSpc>
              </a:pPr>
              <a:r>
                <a:rPr lang="en-US" sz="5100" b="true">
                  <a:solidFill>
                    <a:srgbClr val="AD7A0C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308.000+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257719" y="4263390"/>
            <a:ext cx="5897880" cy="822960"/>
            <a:chOff x="0" y="0"/>
            <a:chExt cx="7863840" cy="10972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8638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642" r="0" b="-8964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786384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250"/>
                </a:lnSpc>
              </a:pPr>
              <a:r>
                <a:rPr lang="en-US" sz="1875">
                  <a:solidFill>
                    <a:srgbClr val="5B6B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inscritos PAES en Chile (2025)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846239" y="5703570"/>
            <a:ext cx="3223260" cy="2606040"/>
            <a:chOff x="0" y="0"/>
            <a:chExt cx="4297680" cy="34747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297680" cy="3474720"/>
            </a:xfrm>
            <a:custGeom>
              <a:avLst/>
              <a:gdLst/>
              <a:ahLst/>
              <a:cxnLst/>
              <a:rect r="r" b="b" t="t" l="l"/>
              <a:pathLst>
                <a:path h="3474720" w="42976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4078224" y="0"/>
                  </a:lnTo>
                  <a:cubicBezTo>
                    <a:pt x="4199382" y="0"/>
                    <a:pt x="4297680" y="98298"/>
                    <a:pt x="4297680" y="219456"/>
                  </a:cubicBezTo>
                  <a:lnTo>
                    <a:pt x="4297680" y="3255264"/>
                  </a:lnTo>
                  <a:cubicBezTo>
                    <a:pt x="4297680" y="3376422"/>
                    <a:pt x="4199382" y="3474720"/>
                    <a:pt x="4078224" y="3474720"/>
                  </a:cubicBezTo>
                  <a:lnTo>
                    <a:pt x="219456" y="3474720"/>
                  </a:lnTo>
                  <a:cubicBezTo>
                    <a:pt x="98298" y="3474720"/>
                    <a:pt x="0" y="3376422"/>
                    <a:pt x="0" y="3255264"/>
                  </a:cubicBezTo>
                  <a:close/>
                </a:path>
              </a:pathLst>
            </a:custGeom>
            <a:solidFill>
              <a:srgbClr val="F2F5FA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120559" y="5950458"/>
            <a:ext cx="2743200" cy="822960"/>
            <a:chOff x="0" y="0"/>
            <a:chExt cx="3657600" cy="10972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657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365760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4680"/>
                </a:lnSpc>
              </a:pPr>
              <a:r>
                <a:rPr lang="en-US" sz="3900" b="true">
                  <a:solidFill>
                    <a:srgbClr val="0F1729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US$1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120559" y="6732270"/>
            <a:ext cx="2743200" cy="1234440"/>
            <a:chOff x="0" y="0"/>
            <a:chExt cx="3657600" cy="16459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6576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36" t="0" r="-7736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9525"/>
              <a:ext cx="3657600" cy="1636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160"/>
                </a:lnSpc>
              </a:pPr>
              <a:r>
                <a:rPr lang="en-US" sz="1800">
                  <a:solidFill>
                    <a:srgbClr val="5B6B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por mes</a:t>
              </a:r>
            </a:p>
            <a:p>
              <a:pPr algn="just">
                <a:lnSpc>
                  <a:spcPts val="2160"/>
                </a:lnSpc>
              </a:pPr>
              <a:r>
                <a:rPr lang="en-US" sz="1800">
                  <a:solidFill>
                    <a:srgbClr val="5B6B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1 prueba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4343819" y="5703570"/>
            <a:ext cx="3223260" cy="2606040"/>
            <a:chOff x="0" y="0"/>
            <a:chExt cx="4297680" cy="34747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297680" cy="3474720"/>
            </a:xfrm>
            <a:custGeom>
              <a:avLst/>
              <a:gdLst/>
              <a:ahLst/>
              <a:cxnLst/>
              <a:rect r="r" b="b" t="t" l="l"/>
              <a:pathLst>
                <a:path h="3474720" w="42976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4078224" y="0"/>
                  </a:lnTo>
                  <a:cubicBezTo>
                    <a:pt x="4199382" y="0"/>
                    <a:pt x="4297680" y="98298"/>
                    <a:pt x="4297680" y="219456"/>
                  </a:cubicBezTo>
                  <a:lnTo>
                    <a:pt x="4297680" y="3255264"/>
                  </a:lnTo>
                  <a:cubicBezTo>
                    <a:pt x="4297680" y="3376422"/>
                    <a:pt x="4199382" y="3474720"/>
                    <a:pt x="4078224" y="3474720"/>
                  </a:cubicBezTo>
                  <a:lnTo>
                    <a:pt x="219456" y="3474720"/>
                  </a:lnTo>
                  <a:cubicBezTo>
                    <a:pt x="98298" y="3474720"/>
                    <a:pt x="0" y="3376422"/>
                    <a:pt x="0" y="3255264"/>
                  </a:cubicBezTo>
                  <a:close/>
                </a:path>
              </a:pathLst>
            </a:custGeom>
            <a:solidFill>
              <a:srgbClr val="2B4772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4618139" y="5950458"/>
            <a:ext cx="2743200" cy="822960"/>
            <a:chOff x="0" y="0"/>
            <a:chExt cx="3657600" cy="10972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657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365760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4680"/>
                </a:lnSpc>
              </a:pPr>
              <a:r>
                <a:rPr lang="en-US" sz="3900" b="true">
                  <a:solidFill>
                    <a:srgbClr val="D9A52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US$5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4618139" y="6732270"/>
            <a:ext cx="2743200" cy="1234440"/>
            <a:chOff x="0" y="0"/>
            <a:chExt cx="3657600" cy="16459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6576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36" t="0" r="-7736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9525"/>
              <a:ext cx="3657600" cy="1636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160"/>
                </a:lnSpc>
              </a:pPr>
              <a:r>
                <a:rPr lang="en-US" sz="1800">
                  <a:solidFill>
                    <a:srgbClr val="9FB0CE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por mes</a:t>
              </a:r>
            </a:p>
            <a:p>
              <a:pPr algn="just">
                <a:lnSpc>
                  <a:spcPts val="2160"/>
                </a:lnSpc>
              </a:pPr>
              <a:r>
                <a:rPr lang="en-US" sz="1800">
                  <a:solidFill>
                    <a:srgbClr val="9FB0CE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todas las pruebas</a:t>
              </a: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15422180" y="1843878"/>
            <a:ext cx="2622681" cy="1522069"/>
          </a:xfrm>
          <a:custGeom>
            <a:avLst/>
            <a:gdLst/>
            <a:ahLst/>
            <a:cxnLst/>
            <a:rect r="r" b="b" t="t" l="l"/>
            <a:pathLst>
              <a:path h="1522069" w="2622681">
                <a:moveTo>
                  <a:pt x="0" y="0"/>
                </a:moveTo>
                <a:lnTo>
                  <a:pt x="2622680" y="0"/>
                </a:lnTo>
                <a:lnTo>
                  <a:pt x="2622680" y="1522069"/>
                </a:lnTo>
                <a:lnTo>
                  <a:pt x="0" y="15220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6180" r="0" b="-46129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028700" y="3028950"/>
            <a:ext cx="7659178" cy="148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8067" indent="-269034" lvl="1">
              <a:lnSpc>
                <a:spcPts val="2990"/>
              </a:lnSpc>
              <a:buFont typeface="Arial"/>
              <a:buChar char="•"/>
            </a:pPr>
            <a:r>
              <a:rPr lang="en-US" sz="2492">
                <a:solidFill>
                  <a:srgbClr val="2B4772"/>
                </a:solidFill>
                <a:latin typeface="Open Sans 1"/>
                <a:ea typeface="Open Sans 1"/>
                <a:cs typeface="Open Sans 1"/>
                <a:sym typeface="Open Sans 1"/>
              </a:rPr>
              <a:t>Plataforma freemium (móvil y web) de práctica intensiva para exámenes de admisión universitaria</a:t>
            </a:r>
          </a:p>
          <a:p>
            <a:pPr algn="just">
              <a:lnSpc>
                <a:spcPts val="2990"/>
              </a:lnSpc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1350206" y="7800975"/>
            <a:ext cx="7890536" cy="140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02301" indent="-251151" lvl="1">
              <a:lnSpc>
                <a:spcPts val="2791"/>
              </a:lnSpc>
              <a:buFont typeface="Arial"/>
              <a:buChar char="•"/>
            </a:pPr>
            <a:r>
              <a:rPr lang="en-US" b="true" sz="2326">
                <a:solidFill>
                  <a:srgbClr val="2B477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Problema</a:t>
            </a:r>
          </a:p>
          <a:p>
            <a:pPr algn="just">
              <a:lnSpc>
                <a:spcPts val="2791"/>
              </a:lnSpc>
            </a:pPr>
            <a:r>
              <a:rPr lang="en-US" sz="2326">
                <a:solidFill>
                  <a:srgbClr val="2B4772"/>
                </a:solidFill>
                <a:latin typeface="Open Sans 1"/>
                <a:ea typeface="Open Sans 1"/>
                <a:cs typeface="Open Sans 1"/>
                <a:sym typeface="Open Sans 1"/>
              </a:rPr>
              <a:t>La gestión de planes y el checkout existen hoy de forma funcional, pero simulada sin una pasarela de pago real conectada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28700" y="4529138"/>
            <a:ext cx="7659178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8067" indent="-269034" lvl="1">
              <a:lnSpc>
                <a:spcPts val="2990"/>
              </a:lnSpc>
              <a:buFont typeface="Arial"/>
              <a:buChar char="•"/>
            </a:pPr>
            <a:r>
              <a:rPr lang="en-US" b="true" sz="2492">
                <a:solidFill>
                  <a:srgbClr val="2B477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Mercado inicial:</a:t>
            </a:r>
            <a:r>
              <a:rPr lang="en-US" sz="2492">
                <a:solidFill>
                  <a:srgbClr val="2B4772"/>
                </a:solidFill>
                <a:latin typeface="Open Sans 1"/>
                <a:ea typeface="Open Sans 1"/>
                <a:cs typeface="Open Sans 1"/>
                <a:sym typeface="Open Sans 1"/>
              </a:rPr>
              <a:t> PAES en Chile con expansión proyectada a UCAT, LNAT y A-Levels en Reino Unido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28700" y="6115050"/>
            <a:ext cx="7659178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8067" indent="-269034" lvl="1">
              <a:lnSpc>
                <a:spcPts val="2990"/>
              </a:lnSpc>
              <a:buFont typeface="Arial"/>
              <a:buChar char="•"/>
            </a:pPr>
            <a:r>
              <a:rPr lang="en-US" sz="2492">
                <a:solidFill>
                  <a:srgbClr val="2B4772"/>
                </a:solidFill>
                <a:latin typeface="Open Sans 1"/>
                <a:ea typeface="Open Sans 1"/>
                <a:cs typeface="Open Sans 1"/>
                <a:sym typeface="Open Sans 1"/>
              </a:rPr>
              <a:t>El alumno practica gratis con preguntas limitadas y luego debe suscribirse para seguir sin restricciones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754380"/>
            <a:ext cx="1234440" cy="1234440"/>
            <a:chOff x="0" y="0"/>
            <a:chExt cx="164592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0F172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71093" y="902513"/>
            <a:ext cx="938174" cy="938174"/>
            <a:chOff x="0" y="0"/>
            <a:chExt cx="1250899" cy="1250899"/>
          </a:xfrm>
        </p:grpSpPr>
        <p:sp>
          <p:nvSpPr>
            <p:cNvPr name="Freeform 5" id="5" descr="/home/claude/deck_assets/relevancia.png"/>
            <p:cNvSpPr/>
            <p:nvPr/>
          </p:nvSpPr>
          <p:spPr>
            <a:xfrm flipH="false" flipV="false" rot="0">
              <a:off x="0" y="0"/>
              <a:ext cx="1250950" cy="1250950"/>
            </a:xfrm>
            <a:custGeom>
              <a:avLst/>
              <a:gdLst/>
              <a:ahLst/>
              <a:cxnLst/>
              <a:rect r="r" b="b" t="t" l="l"/>
              <a:pathLst>
                <a:path h="1250950" w="1250950">
                  <a:moveTo>
                    <a:pt x="0" y="0"/>
                  </a:moveTo>
                  <a:lnTo>
                    <a:pt x="1250950" y="0"/>
                  </a:lnTo>
                  <a:lnTo>
                    <a:pt x="1250950" y="1250950"/>
                  </a:lnTo>
                  <a:lnTo>
                    <a:pt x="0" y="1250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4" b="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331720" y="685800"/>
            <a:ext cx="14401800" cy="411480"/>
            <a:chOff x="0" y="0"/>
            <a:chExt cx="1920240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202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976" r="0" b="-63197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9202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AD7A0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POR QUÉ IMPORTA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331720" y="1069848"/>
            <a:ext cx="15087600" cy="1028700"/>
            <a:chOff x="0" y="0"/>
            <a:chExt cx="20116800" cy="1371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1168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780" r="0" b="-23578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011680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F17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Relevancia para el campo laboral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60120" y="2606040"/>
            <a:ext cx="7886700" cy="3154680"/>
            <a:chOff x="0" y="0"/>
            <a:chExt cx="10515600" cy="42062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515600" cy="4206240"/>
            </a:xfrm>
            <a:custGeom>
              <a:avLst/>
              <a:gdLst/>
              <a:ahLst/>
              <a:cxnLst/>
              <a:rect r="r" b="b" t="t" l="l"/>
              <a:pathLst>
                <a:path h="4206240" w="105156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296144" y="0"/>
                  </a:lnTo>
                  <a:cubicBezTo>
                    <a:pt x="10417302" y="0"/>
                    <a:pt x="10515600" y="98298"/>
                    <a:pt x="10515600" y="219456"/>
                  </a:cubicBezTo>
                  <a:lnTo>
                    <a:pt x="10515600" y="3986784"/>
                  </a:lnTo>
                  <a:cubicBezTo>
                    <a:pt x="10515600" y="4107942"/>
                    <a:pt x="10417302" y="4206240"/>
                    <a:pt x="10296144" y="4206240"/>
                  </a:cubicBezTo>
                  <a:lnTo>
                    <a:pt x="219456" y="4206240"/>
                  </a:lnTo>
                  <a:cubicBezTo>
                    <a:pt x="98298" y="4206240"/>
                    <a:pt x="0" y="4107942"/>
                    <a:pt x="0" y="3986784"/>
                  </a:cubicBezTo>
                  <a:close/>
                </a:path>
              </a:pathLst>
            </a:custGeom>
            <a:solidFill>
              <a:srgbClr val="F2F5FA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71600" y="2948940"/>
            <a:ext cx="1371600" cy="685800"/>
            <a:chOff x="0" y="0"/>
            <a:chExt cx="182880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28800" cy="914400"/>
            </a:xfrm>
            <a:custGeom>
              <a:avLst/>
              <a:gdLst/>
              <a:ahLst/>
              <a:cxnLst/>
              <a:rect r="r" b="b" t="t" l="l"/>
              <a:pathLst>
                <a:path h="9144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8288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3960"/>
                </a:lnSpc>
              </a:pPr>
              <a:r>
                <a:rPr lang="en-US" sz="3300" b="true">
                  <a:solidFill>
                    <a:srgbClr val="AD7A0C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01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71600" y="3634740"/>
            <a:ext cx="7063740" cy="548640"/>
            <a:chOff x="0" y="0"/>
            <a:chExt cx="941832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418320" cy="731520"/>
            </a:xfrm>
            <a:custGeom>
              <a:avLst/>
              <a:gdLst/>
              <a:ahLst/>
              <a:cxnLst/>
              <a:rect r="r" b="b" t="t" l="l"/>
              <a:pathLst>
                <a:path h="731520" w="9418320">
                  <a:moveTo>
                    <a:pt x="0" y="0"/>
                  </a:moveTo>
                  <a:lnTo>
                    <a:pt x="9418320" y="0"/>
                  </a:lnTo>
                  <a:lnTo>
                    <a:pt x="9418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869" r="0" b="-20086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941832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700"/>
                </a:lnSpc>
              </a:pPr>
              <a:r>
                <a:rPr lang="en-US" sz="2250" b="true">
                  <a:solidFill>
                    <a:srgbClr val="0F1729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Negocio + técnica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371600" y="4173855"/>
            <a:ext cx="7063740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40436" indent="-220218" lvl="1">
              <a:lnSpc>
                <a:spcPts val="2447"/>
              </a:lnSpc>
              <a:buFont typeface="Arial"/>
              <a:buChar char="•"/>
            </a:pPr>
            <a:r>
              <a:rPr lang="en-US" sz="2039">
                <a:solidFill>
                  <a:srgbClr val="5B6B85"/>
                </a:solidFill>
                <a:latin typeface="Open Sans 1"/>
                <a:ea typeface="Open Sans 1"/>
                <a:cs typeface="Open Sans 1"/>
                <a:sym typeface="Open Sans 1"/>
              </a:rPr>
              <a:t>combina un problema de negocio real </a:t>
            </a:r>
          </a:p>
          <a:p>
            <a:pPr algn="just">
              <a:lnSpc>
                <a:spcPts val="2447"/>
              </a:lnSpc>
            </a:pPr>
          </a:p>
          <a:p>
            <a:pPr algn="just" marL="440436" indent="-220218" lvl="1">
              <a:lnSpc>
                <a:spcPts val="2447"/>
              </a:lnSpc>
              <a:buFont typeface="Arial"/>
              <a:buChar char="•"/>
            </a:pPr>
            <a:r>
              <a:rPr lang="en-US" sz="2039">
                <a:solidFill>
                  <a:srgbClr val="5B6B85"/>
                </a:solidFill>
                <a:latin typeface="Open Sans 1"/>
                <a:ea typeface="Open Sans 1"/>
                <a:cs typeface="Open Sans 1"/>
                <a:sym typeface="Open Sans 1"/>
              </a:rPr>
              <a:t>monetizar una plataforma freemium con un desafío técnico concreto: integrar una pasarela de pago.</a:t>
            </a:r>
          </a:p>
          <a:p>
            <a:pPr algn="just">
              <a:lnSpc>
                <a:spcPts val="2447"/>
              </a:lnSpc>
            </a:pPr>
          </a:p>
        </p:txBody>
      </p:sp>
      <p:grpSp>
        <p:nvGrpSpPr>
          <p:cNvPr name="Group 21" id="21"/>
          <p:cNvGrpSpPr/>
          <p:nvPr/>
        </p:nvGrpSpPr>
        <p:grpSpPr>
          <a:xfrm rot="0">
            <a:off x="9258300" y="2606040"/>
            <a:ext cx="7886700" cy="3154680"/>
            <a:chOff x="0" y="0"/>
            <a:chExt cx="10515600" cy="42062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515600" cy="4206240"/>
            </a:xfrm>
            <a:custGeom>
              <a:avLst/>
              <a:gdLst/>
              <a:ahLst/>
              <a:cxnLst/>
              <a:rect r="r" b="b" t="t" l="l"/>
              <a:pathLst>
                <a:path h="4206240" w="105156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296144" y="0"/>
                  </a:lnTo>
                  <a:cubicBezTo>
                    <a:pt x="10417302" y="0"/>
                    <a:pt x="10515600" y="98298"/>
                    <a:pt x="10515600" y="219456"/>
                  </a:cubicBezTo>
                  <a:lnTo>
                    <a:pt x="10515600" y="3986784"/>
                  </a:lnTo>
                  <a:cubicBezTo>
                    <a:pt x="10515600" y="4107942"/>
                    <a:pt x="10417302" y="4206240"/>
                    <a:pt x="10296144" y="4206240"/>
                  </a:cubicBezTo>
                  <a:lnTo>
                    <a:pt x="219456" y="4206240"/>
                  </a:lnTo>
                  <a:cubicBezTo>
                    <a:pt x="98298" y="4206240"/>
                    <a:pt x="0" y="4107942"/>
                    <a:pt x="0" y="3986784"/>
                  </a:cubicBezTo>
                  <a:close/>
                </a:path>
              </a:pathLst>
            </a:custGeom>
            <a:solidFill>
              <a:srgbClr val="F2F5F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669780" y="2948940"/>
            <a:ext cx="1371600" cy="685800"/>
            <a:chOff x="0" y="0"/>
            <a:chExt cx="1828800" cy="914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828800" cy="914400"/>
            </a:xfrm>
            <a:custGeom>
              <a:avLst/>
              <a:gdLst/>
              <a:ahLst/>
              <a:cxnLst/>
              <a:rect r="r" b="b" t="t" l="l"/>
              <a:pathLst>
                <a:path h="9144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18288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3960"/>
                </a:lnSpc>
              </a:pPr>
              <a:r>
                <a:rPr lang="en-US" sz="3300" b="true">
                  <a:solidFill>
                    <a:srgbClr val="AD7A0C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02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669780" y="3634740"/>
            <a:ext cx="7063740" cy="548640"/>
            <a:chOff x="0" y="0"/>
            <a:chExt cx="9418320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418320" cy="731520"/>
            </a:xfrm>
            <a:custGeom>
              <a:avLst/>
              <a:gdLst/>
              <a:ahLst/>
              <a:cxnLst/>
              <a:rect r="r" b="b" t="t" l="l"/>
              <a:pathLst>
                <a:path h="731520" w="9418320">
                  <a:moveTo>
                    <a:pt x="0" y="0"/>
                  </a:moveTo>
                  <a:lnTo>
                    <a:pt x="9418320" y="0"/>
                  </a:lnTo>
                  <a:lnTo>
                    <a:pt x="9418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869" r="0" b="-20086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941832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700"/>
                </a:lnSpc>
              </a:pPr>
              <a:r>
                <a:rPr lang="en-US" sz="2250" b="true">
                  <a:solidFill>
                    <a:srgbClr val="0F1729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Código real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9669780" y="4173855"/>
            <a:ext cx="706374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47"/>
              </a:lnSpc>
            </a:pPr>
            <a:r>
              <a:rPr lang="en-US" sz="2039">
                <a:solidFill>
                  <a:srgbClr val="5B6B85"/>
                </a:solidFill>
                <a:latin typeface="Open Sans 1"/>
                <a:ea typeface="Open Sans 1"/>
                <a:cs typeface="Open Sans 1"/>
                <a:sym typeface="Open Sans 1"/>
              </a:rPr>
              <a:t>Se trabaja sobre código real de Alloxentric, respetando un modelo de datos y un contrato de API ya definidos.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60120" y="6172200"/>
            <a:ext cx="7886700" cy="3154680"/>
            <a:chOff x="0" y="0"/>
            <a:chExt cx="10515600" cy="42062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515600" cy="4206240"/>
            </a:xfrm>
            <a:custGeom>
              <a:avLst/>
              <a:gdLst/>
              <a:ahLst/>
              <a:cxnLst/>
              <a:rect r="r" b="b" t="t" l="l"/>
              <a:pathLst>
                <a:path h="4206240" w="105156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296144" y="0"/>
                  </a:lnTo>
                  <a:cubicBezTo>
                    <a:pt x="10417302" y="0"/>
                    <a:pt x="10515600" y="98298"/>
                    <a:pt x="10515600" y="219456"/>
                  </a:cubicBezTo>
                  <a:lnTo>
                    <a:pt x="10515600" y="3986784"/>
                  </a:lnTo>
                  <a:cubicBezTo>
                    <a:pt x="10515600" y="4107942"/>
                    <a:pt x="10417302" y="4206240"/>
                    <a:pt x="10296144" y="4206240"/>
                  </a:cubicBezTo>
                  <a:lnTo>
                    <a:pt x="219456" y="4206240"/>
                  </a:lnTo>
                  <a:cubicBezTo>
                    <a:pt x="98298" y="4206240"/>
                    <a:pt x="0" y="4107942"/>
                    <a:pt x="0" y="3986784"/>
                  </a:cubicBezTo>
                  <a:close/>
                </a:path>
              </a:pathLst>
            </a:custGeom>
            <a:solidFill>
              <a:srgbClr val="F2F5FA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371600" y="6515100"/>
            <a:ext cx="1371600" cy="685800"/>
            <a:chOff x="0" y="0"/>
            <a:chExt cx="1828800" cy="914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828800" cy="914400"/>
            </a:xfrm>
            <a:custGeom>
              <a:avLst/>
              <a:gdLst/>
              <a:ahLst/>
              <a:cxnLst/>
              <a:rect r="r" b="b" t="t" l="l"/>
              <a:pathLst>
                <a:path h="9144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18288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3960"/>
                </a:lnSpc>
              </a:pPr>
              <a:r>
                <a:rPr lang="en-US" sz="3300" b="true">
                  <a:solidFill>
                    <a:srgbClr val="AD7A0C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03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71600" y="7200900"/>
            <a:ext cx="7063740" cy="548640"/>
            <a:chOff x="0" y="0"/>
            <a:chExt cx="9418320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418320" cy="731520"/>
            </a:xfrm>
            <a:custGeom>
              <a:avLst/>
              <a:gdLst/>
              <a:ahLst/>
              <a:cxnLst/>
              <a:rect r="r" b="b" t="t" l="l"/>
              <a:pathLst>
                <a:path h="731520" w="9418320">
                  <a:moveTo>
                    <a:pt x="0" y="0"/>
                  </a:moveTo>
                  <a:lnTo>
                    <a:pt x="9418320" y="0"/>
                  </a:lnTo>
                  <a:lnTo>
                    <a:pt x="9418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869" r="0" b="-200869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941832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700"/>
                </a:lnSpc>
              </a:pPr>
              <a:r>
                <a:rPr lang="en-US" sz="2250" b="true">
                  <a:solidFill>
                    <a:srgbClr val="0F1729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Impacto directo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371600" y="7740015"/>
            <a:ext cx="706374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47"/>
              </a:lnSpc>
            </a:pPr>
            <a:r>
              <a:rPr lang="en-US" sz="2039">
                <a:solidFill>
                  <a:srgbClr val="5B6B85"/>
                </a:solidFill>
                <a:latin typeface="Open Sans 1"/>
                <a:ea typeface="Open Sans 1"/>
                <a:cs typeface="Open Sans 1"/>
                <a:sym typeface="Open Sans 1"/>
              </a:rPr>
              <a:t>Sin este módulo la empresa no puede ajustar precios, medir ingresos ni sostener su operación comercial.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9258300" y="6172200"/>
            <a:ext cx="7886700" cy="3154680"/>
            <a:chOff x="0" y="0"/>
            <a:chExt cx="10515600" cy="42062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515600" cy="4206240"/>
            </a:xfrm>
            <a:custGeom>
              <a:avLst/>
              <a:gdLst/>
              <a:ahLst/>
              <a:cxnLst/>
              <a:rect r="r" b="b" t="t" l="l"/>
              <a:pathLst>
                <a:path h="4206240" w="105156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296144" y="0"/>
                  </a:lnTo>
                  <a:cubicBezTo>
                    <a:pt x="10417302" y="0"/>
                    <a:pt x="10515600" y="98298"/>
                    <a:pt x="10515600" y="219456"/>
                  </a:cubicBezTo>
                  <a:lnTo>
                    <a:pt x="10515600" y="3986784"/>
                  </a:lnTo>
                  <a:cubicBezTo>
                    <a:pt x="10515600" y="4107942"/>
                    <a:pt x="10417302" y="4206240"/>
                    <a:pt x="10296144" y="4206240"/>
                  </a:cubicBezTo>
                  <a:lnTo>
                    <a:pt x="219456" y="4206240"/>
                  </a:lnTo>
                  <a:cubicBezTo>
                    <a:pt x="98298" y="4206240"/>
                    <a:pt x="0" y="4107942"/>
                    <a:pt x="0" y="3986784"/>
                  </a:cubicBezTo>
                  <a:close/>
                </a:path>
              </a:pathLst>
            </a:custGeom>
            <a:solidFill>
              <a:srgbClr val="F2F5FA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9669780" y="6515100"/>
            <a:ext cx="1371600" cy="685800"/>
            <a:chOff x="0" y="0"/>
            <a:chExt cx="1828800" cy="914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828800" cy="914400"/>
            </a:xfrm>
            <a:custGeom>
              <a:avLst/>
              <a:gdLst/>
              <a:ahLst/>
              <a:cxnLst/>
              <a:rect r="r" b="b" t="t" l="l"/>
              <a:pathLst>
                <a:path h="9144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18288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3960"/>
                </a:lnSpc>
              </a:pPr>
              <a:r>
                <a:rPr lang="en-US" sz="3300" b="true">
                  <a:solidFill>
                    <a:srgbClr val="AD7A0C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04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669780" y="7200900"/>
            <a:ext cx="7063740" cy="548640"/>
            <a:chOff x="0" y="0"/>
            <a:chExt cx="941832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418320" cy="731520"/>
            </a:xfrm>
            <a:custGeom>
              <a:avLst/>
              <a:gdLst/>
              <a:ahLst/>
              <a:cxnLst/>
              <a:rect r="r" b="b" t="t" l="l"/>
              <a:pathLst>
                <a:path h="731520" w="9418320">
                  <a:moveTo>
                    <a:pt x="0" y="0"/>
                  </a:moveTo>
                  <a:lnTo>
                    <a:pt x="9418320" y="0"/>
                  </a:lnTo>
                  <a:lnTo>
                    <a:pt x="9418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869" r="0" b="-200869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941832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700"/>
                </a:lnSpc>
              </a:pPr>
              <a:r>
                <a:rPr lang="en-US" sz="2250" b="true">
                  <a:solidFill>
                    <a:srgbClr val="0F1729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Aporte del equipo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669780" y="7740015"/>
            <a:ext cx="706374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47"/>
              </a:lnSpc>
            </a:pPr>
            <a:r>
              <a:rPr lang="en-US" sz="2039">
                <a:solidFill>
                  <a:srgbClr val="5B6B85"/>
                </a:solidFill>
                <a:latin typeface="Open Sans 1"/>
                <a:ea typeface="Open Sans 1"/>
                <a:cs typeface="Open Sans 1"/>
                <a:sym typeface="Open Sans 1"/>
              </a:rPr>
              <a:t>Dejar una gestión de planes y un flujo de pago funcionales y auditables, hoy solo simulados.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754380"/>
            <a:ext cx="1234440" cy="1234440"/>
            <a:chOff x="0" y="0"/>
            <a:chExt cx="164592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0F172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71093" y="902513"/>
            <a:ext cx="938174" cy="938174"/>
            <a:chOff x="0" y="0"/>
            <a:chExt cx="1250899" cy="1250899"/>
          </a:xfrm>
        </p:grpSpPr>
        <p:sp>
          <p:nvSpPr>
            <p:cNvPr name="Freeform 5" id="5" descr="/home/claude/deck_assets/perfil.png"/>
            <p:cNvSpPr/>
            <p:nvPr/>
          </p:nvSpPr>
          <p:spPr>
            <a:xfrm flipH="false" flipV="false" rot="0">
              <a:off x="0" y="0"/>
              <a:ext cx="1250950" cy="1250950"/>
            </a:xfrm>
            <a:custGeom>
              <a:avLst/>
              <a:gdLst/>
              <a:ahLst/>
              <a:cxnLst/>
              <a:rect r="r" b="b" t="t" l="l"/>
              <a:pathLst>
                <a:path h="1250950" w="1250950">
                  <a:moveTo>
                    <a:pt x="0" y="0"/>
                  </a:moveTo>
                  <a:lnTo>
                    <a:pt x="1250950" y="0"/>
                  </a:lnTo>
                  <a:lnTo>
                    <a:pt x="1250950" y="1250950"/>
                  </a:lnTo>
                  <a:lnTo>
                    <a:pt x="0" y="1250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4" b="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331720" y="685800"/>
            <a:ext cx="14401800" cy="411480"/>
            <a:chOff x="0" y="0"/>
            <a:chExt cx="1920240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202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976" r="0" b="-63197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9202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AD7A0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PERTINENCIA DISCIPLINAR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331720" y="1069848"/>
            <a:ext cx="15087600" cy="1028700"/>
            <a:chOff x="0" y="0"/>
            <a:chExt cx="20116800" cy="1371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1168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780" r="0" b="-23578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011680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F17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Relación con el Perfil de Egreso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60120" y="2546985"/>
            <a:ext cx="14416101" cy="180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2759" indent="-216379" lvl="1">
              <a:lnSpc>
                <a:spcPts val="2869"/>
              </a:lnSpc>
              <a:buFont typeface="Arial"/>
              <a:buChar char="•"/>
            </a:pPr>
            <a:r>
              <a:rPr lang="en-US" sz="2391">
                <a:solidFill>
                  <a:srgbClr val="0F1729"/>
                </a:solidFill>
                <a:latin typeface="Open Sans 1"/>
                <a:ea typeface="Open Sans 1"/>
                <a:cs typeface="Open Sans 1"/>
                <a:sym typeface="Open Sans 1"/>
              </a:rPr>
              <a:t>El proyecto exige aplicar en conjunto varias competencias del perfil de egreso de Ingeniería en Informática, repartidas entre los tres integrantes del equipo.</a:t>
            </a:r>
          </a:p>
          <a:p>
            <a:pPr algn="just">
              <a:lnSpc>
                <a:spcPts val="2869"/>
              </a:lnSpc>
            </a:pPr>
          </a:p>
          <a:p>
            <a:pPr algn="just" marL="432759" indent="-216379" lvl="1">
              <a:lnSpc>
                <a:spcPts val="2869"/>
              </a:lnSpc>
              <a:buFont typeface="Arial"/>
              <a:buChar char="•"/>
            </a:pPr>
            <a:r>
              <a:rPr lang="en-US" sz="2391">
                <a:solidFill>
                  <a:srgbClr val="0F1729"/>
                </a:solidFill>
                <a:latin typeface="Open Sans 1"/>
                <a:ea typeface="Open Sans 1"/>
                <a:cs typeface="Open Sans 1"/>
                <a:sym typeface="Open Sans 1"/>
              </a:rPr>
              <a:t>Ninguna competencia por sí sola resolvería el problema completo: se necesita tanto la gestión y el diseño de la solución como su implementación y validación técnica.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60120" y="4869180"/>
            <a:ext cx="16322040" cy="754380"/>
            <a:chOff x="0" y="0"/>
            <a:chExt cx="21762720" cy="10058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7627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17627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21543263" y="0"/>
                  </a:lnTo>
                  <a:cubicBezTo>
                    <a:pt x="21664422" y="0"/>
                    <a:pt x="21762720" y="98298"/>
                    <a:pt x="21762720" y="219456"/>
                  </a:cubicBezTo>
                  <a:lnTo>
                    <a:pt x="21762720" y="786384"/>
                  </a:lnTo>
                  <a:cubicBezTo>
                    <a:pt x="21762720" y="907542"/>
                    <a:pt x="21664422" y="1005840"/>
                    <a:pt x="21543263" y="1005840"/>
                  </a:cubicBezTo>
                  <a:lnTo>
                    <a:pt x="219456" y="1005840"/>
                  </a:lnTo>
                  <a:cubicBezTo>
                    <a:pt x="98298" y="1005840"/>
                    <a:pt x="0" y="907542"/>
                    <a:pt x="0" y="786384"/>
                  </a:cubicBezTo>
                  <a:close/>
                </a:path>
              </a:pathLst>
            </a:custGeom>
            <a:solidFill>
              <a:srgbClr val="2B4772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71600" y="4869180"/>
            <a:ext cx="9326880" cy="754380"/>
            <a:chOff x="0" y="0"/>
            <a:chExt cx="12435840" cy="10058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43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905" r="0" b="-19090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243584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1980"/>
                </a:lnSpc>
              </a:pPr>
              <a:r>
                <a:rPr lang="en-US" b="true" sz="1650" spc="150">
                  <a:solidFill>
                    <a:srgbClr val="FFFFFF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COMPETENCIA DEL PERFIL DE EGRESO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698480" y="4869180"/>
            <a:ext cx="6172200" cy="754380"/>
            <a:chOff x="0" y="0"/>
            <a:chExt cx="8229600" cy="10058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2296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423" r="0" b="-10942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822960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1980"/>
                </a:lnSpc>
              </a:pPr>
              <a:r>
                <a:rPr lang="en-US" b="true" sz="1650" spc="150">
                  <a:solidFill>
                    <a:srgbClr val="FFFFFF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EVIDENCIA EN EL PROYECTO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60120" y="5692140"/>
            <a:ext cx="16322040" cy="987552"/>
            <a:chOff x="0" y="0"/>
            <a:chExt cx="21762720" cy="131673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762720" cy="1316736"/>
            </a:xfrm>
            <a:custGeom>
              <a:avLst/>
              <a:gdLst/>
              <a:ahLst/>
              <a:cxnLst/>
              <a:rect r="r" b="b" t="t" l="l"/>
              <a:pathLst>
                <a:path h="1316736" w="217627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21543263" y="0"/>
                  </a:lnTo>
                  <a:cubicBezTo>
                    <a:pt x="21664422" y="0"/>
                    <a:pt x="21762720" y="98298"/>
                    <a:pt x="21762720" y="219456"/>
                  </a:cubicBezTo>
                  <a:lnTo>
                    <a:pt x="21762720" y="1097280"/>
                  </a:lnTo>
                  <a:cubicBezTo>
                    <a:pt x="21762720" y="1218438"/>
                    <a:pt x="21664422" y="1316736"/>
                    <a:pt x="21543263" y="1316736"/>
                  </a:cubicBezTo>
                  <a:lnTo>
                    <a:pt x="219456" y="1316736"/>
                  </a:lnTo>
                  <a:cubicBezTo>
                    <a:pt x="98298" y="1316736"/>
                    <a:pt x="0" y="1218438"/>
                    <a:pt x="0" y="1097280"/>
                  </a:cubicBezTo>
                  <a:close/>
                </a:path>
              </a:pathLst>
            </a:custGeom>
            <a:solidFill>
              <a:srgbClr val="F2F5F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371600" y="5692140"/>
            <a:ext cx="9052560" cy="987552"/>
            <a:chOff x="0" y="0"/>
            <a:chExt cx="12070080" cy="131673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07008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2070080">
                  <a:moveTo>
                    <a:pt x="0" y="0"/>
                  </a:moveTo>
                  <a:lnTo>
                    <a:pt x="12070080" y="0"/>
                  </a:lnTo>
                  <a:lnTo>
                    <a:pt x="120700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612" r="0" b="-12861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9525"/>
              <a:ext cx="12070080" cy="1307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160"/>
                </a:lnSpc>
              </a:pPr>
              <a:r>
                <a:rPr lang="en-US" sz="1800" b="true">
                  <a:solidFill>
                    <a:srgbClr val="0F1729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Ofrecer propuestas de solución informática / Gestionar proyectos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698480" y="5692140"/>
            <a:ext cx="6172200" cy="987552"/>
            <a:chOff x="0" y="0"/>
            <a:chExt cx="8229600" cy="131673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2296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9525"/>
              <a:ext cx="8229600" cy="1307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070"/>
                </a:lnSpc>
              </a:pPr>
              <a:r>
                <a:rPr lang="en-US" sz="1725">
                  <a:solidFill>
                    <a:srgbClr val="5B6B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Definir y planificar el proyecto: guía, documentación formal y plan de proyecto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71600" y="6679692"/>
            <a:ext cx="9052560" cy="987552"/>
            <a:chOff x="0" y="0"/>
            <a:chExt cx="12070080" cy="131673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07008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2070080">
                  <a:moveTo>
                    <a:pt x="0" y="0"/>
                  </a:moveTo>
                  <a:lnTo>
                    <a:pt x="12070080" y="0"/>
                  </a:lnTo>
                  <a:lnTo>
                    <a:pt x="120700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612" r="0" b="-12861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9525"/>
              <a:ext cx="12070080" cy="1307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160"/>
                </a:lnSpc>
              </a:pPr>
              <a:r>
                <a:rPr lang="en-US" sz="1800" b="true">
                  <a:solidFill>
                    <a:srgbClr val="0F1729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Construir modelos de datos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698480" y="6679692"/>
            <a:ext cx="6172200" cy="987552"/>
            <a:chOff x="0" y="0"/>
            <a:chExt cx="8229600" cy="131673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2296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9525"/>
              <a:ext cx="8229600" cy="1307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070"/>
                </a:lnSpc>
              </a:pPr>
              <a:r>
                <a:rPr lang="en-US" sz="1725">
                  <a:solidFill>
                    <a:srgbClr val="5B6B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Diagrama de clases y modelo de base de datos Firestore (planes, suscripciones, facturas)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60120" y="7667244"/>
            <a:ext cx="16322040" cy="987552"/>
            <a:chOff x="0" y="0"/>
            <a:chExt cx="21762720" cy="131673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762720" cy="1316736"/>
            </a:xfrm>
            <a:custGeom>
              <a:avLst/>
              <a:gdLst/>
              <a:ahLst/>
              <a:cxnLst/>
              <a:rect r="r" b="b" t="t" l="l"/>
              <a:pathLst>
                <a:path h="1316736" w="217627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21543263" y="0"/>
                  </a:lnTo>
                  <a:cubicBezTo>
                    <a:pt x="21664422" y="0"/>
                    <a:pt x="21762720" y="98298"/>
                    <a:pt x="21762720" y="219456"/>
                  </a:cubicBezTo>
                  <a:lnTo>
                    <a:pt x="21762720" y="1097280"/>
                  </a:lnTo>
                  <a:cubicBezTo>
                    <a:pt x="21762720" y="1218438"/>
                    <a:pt x="21664422" y="1316736"/>
                    <a:pt x="21543263" y="1316736"/>
                  </a:cubicBezTo>
                  <a:lnTo>
                    <a:pt x="219456" y="1316736"/>
                  </a:lnTo>
                  <a:cubicBezTo>
                    <a:pt x="98298" y="1316736"/>
                    <a:pt x="0" y="1218438"/>
                    <a:pt x="0" y="1097280"/>
                  </a:cubicBezTo>
                  <a:close/>
                </a:path>
              </a:pathLst>
            </a:custGeom>
            <a:solidFill>
              <a:srgbClr val="F2F5FA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371600" y="7667244"/>
            <a:ext cx="9052560" cy="987552"/>
            <a:chOff x="0" y="0"/>
            <a:chExt cx="12070080" cy="131673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207008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2070080">
                  <a:moveTo>
                    <a:pt x="0" y="0"/>
                  </a:moveTo>
                  <a:lnTo>
                    <a:pt x="12070080" y="0"/>
                  </a:lnTo>
                  <a:lnTo>
                    <a:pt x="120700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612" r="0" b="-12861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9525"/>
              <a:ext cx="12070080" cy="1307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160"/>
                </a:lnSpc>
              </a:pPr>
              <a:r>
                <a:rPr lang="en-US" sz="1800" b="true">
                  <a:solidFill>
                    <a:srgbClr val="0F1729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Desarrollar una solución de software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698480" y="7667244"/>
            <a:ext cx="6172200" cy="987552"/>
            <a:chOff x="0" y="0"/>
            <a:chExt cx="8229600" cy="131673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2296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9525"/>
              <a:ext cx="8229600" cy="1307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070"/>
                </a:lnSpc>
              </a:pPr>
              <a:r>
                <a:rPr lang="en-US" sz="1725">
                  <a:solidFill>
                    <a:srgbClr val="5B6B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Implementación del checkout, activación de suscripciones e integración real con Stripe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371600" y="8654796"/>
            <a:ext cx="9052560" cy="987552"/>
            <a:chOff x="0" y="0"/>
            <a:chExt cx="12070080" cy="131673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207008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2070080">
                  <a:moveTo>
                    <a:pt x="0" y="0"/>
                  </a:moveTo>
                  <a:lnTo>
                    <a:pt x="12070080" y="0"/>
                  </a:lnTo>
                  <a:lnTo>
                    <a:pt x="120700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612" r="0" b="-128612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9525"/>
              <a:ext cx="12070080" cy="1307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160"/>
                </a:lnSpc>
              </a:pPr>
              <a:r>
                <a:rPr lang="en-US" sz="1800" b="true">
                  <a:solidFill>
                    <a:srgbClr val="0F1729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Realizar pruebas de certificación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0698480" y="8654796"/>
            <a:ext cx="6172200" cy="987552"/>
            <a:chOff x="0" y="0"/>
            <a:chExt cx="8229600" cy="131673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2296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9525"/>
              <a:ext cx="8229600" cy="1307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070"/>
                </a:lnSpc>
              </a:pPr>
              <a:r>
                <a:rPr lang="en-US" sz="1725">
                  <a:solidFill>
                    <a:srgbClr val="5B6B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Pruebas del flujo completo de checkout y pago antes de la entrega final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754380"/>
            <a:ext cx="1234440" cy="1234440"/>
            <a:chOff x="0" y="0"/>
            <a:chExt cx="164592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0F172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71093" y="902513"/>
            <a:ext cx="938174" cy="938174"/>
            <a:chOff x="0" y="0"/>
            <a:chExt cx="1250899" cy="1250899"/>
          </a:xfrm>
        </p:grpSpPr>
        <p:sp>
          <p:nvSpPr>
            <p:cNvPr name="Freeform 5" id="5" descr="/home/claude/deck_assets/intereses.png"/>
            <p:cNvSpPr/>
            <p:nvPr/>
          </p:nvSpPr>
          <p:spPr>
            <a:xfrm flipH="false" flipV="false" rot="0">
              <a:off x="0" y="0"/>
              <a:ext cx="1250950" cy="1250950"/>
            </a:xfrm>
            <a:custGeom>
              <a:avLst/>
              <a:gdLst/>
              <a:ahLst/>
              <a:cxnLst/>
              <a:rect r="r" b="b" t="t" l="l"/>
              <a:pathLst>
                <a:path h="1250950" w="1250950">
                  <a:moveTo>
                    <a:pt x="0" y="0"/>
                  </a:moveTo>
                  <a:lnTo>
                    <a:pt x="1250950" y="0"/>
                  </a:lnTo>
                  <a:lnTo>
                    <a:pt x="1250950" y="1250950"/>
                  </a:lnTo>
                  <a:lnTo>
                    <a:pt x="0" y="1250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4" b="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331720" y="685800"/>
            <a:ext cx="14401800" cy="411480"/>
            <a:chOff x="0" y="0"/>
            <a:chExt cx="1920240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202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976" r="0" b="-63197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9202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AD7A0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MOTIVACIÓN DEL EQUIPO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331720" y="1069848"/>
            <a:ext cx="15087600" cy="1028700"/>
            <a:chOff x="0" y="0"/>
            <a:chExt cx="20116800" cy="1371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1168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780" r="0" b="-23578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011680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F17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Relación con intereses profesionales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82980" y="2912189"/>
            <a:ext cx="16322040" cy="6309360"/>
            <a:chOff x="0" y="0"/>
            <a:chExt cx="21762720" cy="84124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762720" cy="8412480"/>
            </a:xfrm>
            <a:custGeom>
              <a:avLst/>
              <a:gdLst/>
              <a:ahLst/>
              <a:cxnLst/>
              <a:rect r="r" b="b" t="t" l="l"/>
              <a:pathLst>
                <a:path h="8412480" w="217627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21543263" y="0"/>
                  </a:lnTo>
                  <a:cubicBezTo>
                    <a:pt x="21664422" y="0"/>
                    <a:pt x="21762720" y="98298"/>
                    <a:pt x="21762720" y="219456"/>
                  </a:cubicBezTo>
                  <a:lnTo>
                    <a:pt x="21762720" y="8193024"/>
                  </a:lnTo>
                  <a:cubicBezTo>
                    <a:pt x="21762720" y="8314182"/>
                    <a:pt x="21664422" y="8412480"/>
                    <a:pt x="21543263" y="8412480"/>
                  </a:cubicBezTo>
                  <a:lnTo>
                    <a:pt x="219456" y="8412480"/>
                  </a:lnTo>
                  <a:cubicBezTo>
                    <a:pt x="98298" y="8412480"/>
                    <a:pt x="0" y="8314182"/>
                    <a:pt x="0" y="8193024"/>
                  </a:cubicBezTo>
                  <a:close/>
                </a:path>
              </a:pathLst>
            </a:custGeom>
            <a:solidFill>
              <a:srgbClr val="F2F5FA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94460" y="5298773"/>
            <a:ext cx="384048" cy="384048"/>
            <a:chOff x="0" y="0"/>
            <a:chExt cx="512064" cy="51206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cubicBezTo>
                    <a:pt x="397383" y="0"/>
                    <a:pt x="512064" y="114681"/>
                    <a:pt x="512064" y="256032"/>
                  </a:cubicBezTo>
                  <a:cubicBezTo>
                    <a:pt x="512064" y="397383"/>
                    <a:pt x="397383" y="512064"/>
                    <a:pt x="256032" y="512064"/>
                  </a:cubicBez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0F1729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94460" y="5298773"/>
            <a:ext cx="384048" cy="384048"/>
            <a:chOff x="0" y="0"/>
            <a:chExt cx="512064" cy="51206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512064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D9A52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011680" y="5216477"/>
            <a:ext cx="14264640" cy="685800"/>
            <a:chOff x="0" y="0"/>
            <a:chExt cx="19019520" cy="914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019520" cy="914400"/>
            </a:xfrm>
            <a:custGeom>
              <a:avLst/>
              <a:gdLst/>
              <a:ahLst/>
              <a:cxnLst/>
              <a:rect r="r" b="b" t="t" l="l"/>
              <a:pathLst>
                <a:path h="91440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5288" r="0" b="-355288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1901952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0F1729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Diseño de un modelo de datos sólido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94460" y="6149165"/>
            <a:ext cx="384048" cy="384048"/>
            <a:chOff x="0" y="0"/>
            <a:chExt cx="512064" cy="51206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cubicBezTo>
                    <a:pt x="397383" y="0"/>
                    <a:pt x="512064" y="114681"/>
                    <a:pt x="512064" y="256032"/>
                  </a:cubicBezTo>
                  <a:cubicBezTo>
                    <a:pt x="512064" y="397383"/>
                    <a:pt x="397383" y="512064"/>
                    <a:pt x="256032" y="512064"/>
                  </a:cubicBez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0F1729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394460" y="6149165"/>
            <a:ext cx="384048" cy="384048"/>
            <a:chOff x="0" y="0"/>
            <a:chExt cx="512064" cy="51206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512064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D9A52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2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011680" y="6066869"/>
            <a:ext cx="14264640" cy="685800"/>
            <a:chOff x="0" y="0"/>
            <a:chExt cx="19019520" cy="914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9019520" cy="914400"/>
            </a:xfrm>
            <a:custGeom>
              <a:avLst/>
              <a:gdLst/>
              <a:ahLst/>
              <a:cxnLst/>
              <a:rect r="r" b="b" t="t" l="l"/>
              <a:pathLst>
                <a:path h="91440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5288" r="0" b="-355288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1901952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0F1729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Integración técnica real con una pasarela de pago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94460" y="6999557"/>
            <a:ext cx="384048" cy="384048"/>
            <a:chOff x="0" y="0"/>
            <a:chExt cx="512064" cy="51206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cubicBezTo>
                    <a:pt x="397383" y="0"/>
                    <a:pt x="512064" y="114681"/>
                    <a:pt x="512064" y="256032"/>
                  </a:cubicBezTo>
                  <a:cubicBezTo>
                    <a:pt x="512064" y="397383"/>
                    <a:pt x="397383" y="512064"/>
                    <a:pt x="256032" y="512064"/>
                  </a:cubicBez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0F1729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394460" y="6999557"/>
            <a:ext cx="384048" cy="384048"/>
            <a:chOff x="0" y="0"/>
            <a:chExt cx="512064" cy="51206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512064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D9A52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3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2011680" y="6917261"/>
            <a:ext cx="14264640" cy="685800"/>
            <a:chOff x="0" y="0"/>
            <a:chExt cx="19019520" cy="914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9019520" cy="914400"/>
            </a:xfrm>
            <a:custGeom>
              <a:avLst/>
              <a:gdLst/>
              <a:ahLst/>
              <a:cxnLst/>
              <a:rect r="r" b="b" t="t" l="l"/>
              <a:pathLst>
                <a:path h="91440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5288" r="0" b="-355288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901952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0F1729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Gestión y planificación del trabajo en incrementos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94460" y="7849949"/>
            <a:ext cx="384048" cy="384048"/>
            <a:chOff x="0" y="0"/>
            <a:chExt cx="512064" cy="51206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cubicBezTo>
                    <a:pt x="397383" y="0"/>
                    <a:pt x="512064" y="114681"/>
                    <a:pt x="512064" y="256032"/>
                  </a:cubicBezTo>
                  <a:cubicBezTo>
                    <a:pt x="512064" y="397383"/>
                    <a:pt x="397383" y="512064"/>
                    <a:pt x="256032" y="512064"/>
                  </a:cubicBez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0F1729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394460" y="7849949"/>
            <a:ext cx="384048" cy="384048"/>
            <a:chOff x="0" y="0"/>
            <a:chExt cx="512064" cy="51206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512064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D9A52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4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2011680" y="7767653"/>
            <a:ext cx="14264640" cy="685800"/>
            <a:chOff x="0" y="0"/>
            <a:chExt cx="19019520" cy="9144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9019520" cy="914400"/>
            </a:xfrm>
            <a:custGeom>
              <a:avLst/>
              <a:gdLst/>
              <a:ahLst/>
              <a:cxnLst/>
              <a:rect r="r" b="b" t="t" l="l"/>
              <a:pathLst>
                <a:path h="91440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5288" r="0" b="-355288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1901952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0F1729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Validación de que todo funcione antes de la entrega</a:t>
              </a:r>
            </a:p>
          </p:txBody>
        </p:sp>
      </p:grpSp>
      <p:sp>
        <p:nvSpPr>
          <p:cNvPr name="Freeform 46" id="46"/>
          <p:cNvSpPr/>
          <p:nvPr/>
        </p:nvSpPr>
        <p:spPr>
          <a:xfrm flipH="false" flipV="false" rot="0">
            <a:off x="12442058" y="6149165"/>
            <a:ext cx="4977262" cy="5184648"/>
          </a:xfrm>
          <a:custGeom>
            <a:avLst/>
            <a:gdLst/>
            <a:ahLst/>
            <a:cxnLst/>
            <a:rect r="r" b="b" t="t" l="l"/>
            <a:pathLst>
              <a:path h="5184648" w="4977262">
                <a:moveTo>
                  <a:pt x="0" y="0"/>
                </a:moveTo>
                <a:lnTo>
                  <a:pt x="4977262" y="0"/>
                </a:lnTo>
                <a:lnTo>
                  <a:pt x="4977262" y="5184648"/>
                </a:lnTo>
                <a:lnTo>
                  <a:pt x="0" y="51846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7" id="47"/>
          <p:cNvSpPr txBox="true"/>
          <p:nvPr/>
        </p:nvSpPr>
        <p:spPr>
          <a:xfrm rot="0">
            <a:off x="1371600" y="3438525"/>
            <a:ext cx="1536192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F1729"/>
                </a:solidFill>
                <a:latin typeface="Open Sans 1"/>
                <a:ea typeface="Open Sans 1"/>
                <a:cs typeface="Open Sans 1"/>
                <a:sym typeface="Open Sans 1"/>
              </a:rPr>
              <a:t>Como equipo nos interesa enfrentar un proyecto de software real, con un problema de negocio concreto detrás, y no solo un ejercicio académico. Trabajar sobre una plataforma que ya existe y que ya tiene decisiones tomadas se acerca mucho más a cómo se trabaja en la industria que partir completamente desde cero.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754380"/>
            <a:ext cx="1234440" cy="1234440"/>
            <a:chOff x="0" y="0"/>
            <a:chExt cx="164592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0F172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71093" y="902513"/>
            <a:ext cx="938174" cy="938174"/>
            <a:chOff x="0" y="0"/>
            <a:chExt cx="1250899" cy="1250899"/>
          </a:xfrm>
        </p:grpSpPr>
        <p:sp>
          <p:nvSpPr>
            <p:cNvPr name="Freeform 5" id="5" descr="/home/claude/deck_assets/factibilidad.png"/>
            <p:cNvSpPr/>
            <p:nvPr/>
          </p:nvSpPr>
          <p:spPr>
            <a:xfrm flipH="false" flipV="false" rot="0">
              <a:off x="0" y="0"/>
              <a:ext cx="1250950" cy="1250950"/>
            </a:xfrm>
            <a:custGeom>
              <a:avLst/>
              <a:gdLst/>
              <a:ahLst/>
              <a:cxnLst/>
              <a:rect r="r" b="b" t="t" l="l"/>
              <a:pathLst>
                <a:path h="1250950" w="1250950">
                  <a:moveTo>
                    <a:pt x="0" y="0"/>
                  </a:moveTo>
                  <a:lnTo>
                    <a:pt x="1250950" y="0"/>
                  </a:lnTo>
                  <a:lnTo>
                    <a:pt x="1250950" y="1250950"/>
                  </a:lnTo>
                  <a:lnTo>
                    <a:pt x="0" y="1250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4" b="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331720" y="685800"/>
            <a:ext cx="14401800" cy="411480"/>
            <a:chOff x="0" y="0"/>
            <a:chExt cx="1920240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202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976" r="0" b="-63197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9202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AD7A0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POR QUÉ ES REALIZABLE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331720" y="1069848"/>
            <a:ext cx="15087600" cy="1028700"/>
            <a:chOff x="0" y="0"/>
            <a:chExt cx="20116800" cy="1371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1168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780" r="0" b="-23578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011680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F17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Factibilidad del proyecto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60120" y="2606040"/>
            <a:ext cx="7886700" cy="3909060"/>
            <a:chOff x="0" y="0"/>
            <a:chExt cx="10515600" cy="52120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515600" cy="5212080"/>
            </a:xfrm>
            <a:custGeom>
              <a:avLst/>
              <a:gdLst/>
              <a:ahLst/>
              <a:cxnLst/>
              <a:rect r="r" b="b" t="t" l="l"/>
              <a:pathLst>
                <a:path h="5212080" w="105156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296144" y="0"/>
                  </a:lnTo>
                  <a:cubicBezTo>
                    <a:pt x="10417302" y="0"/>
                    <a:pt x="10515600" y="98298"/>
                    <a:pt x="10515600" y="219456"/>
                  </a:cubicBezTo>
                  <a:lnTo>
                    <a:pt x="10515600" y="4992624"/>
                  </a:lnTo>
                  <a:cubicBezTo>
                    <a:pt x="10515600" y="5113782"/>
                    <a:pt x="10417302" y="5212080"/>
                    <a:pt x="10296144" y="5212080"/>
                  </a:cubicBezTo>
                  <a:lnTo>
                    <a:pt x="219456" y="5212080"/>
                  </a:lnTo>
                  <a:cubicBezTo>
                    <a:pt x="98298" y="5212080"/>
                    <a:pt x="0" y="5113782"/>
                    <a:pt x="0" y="4992624"/>
                  </a:cubicBezTo>
                  <a:close/>
                </a:path>
              </a:pathLst>
            </a:custGeom>
            <a:solidFill>
              <a:srgbClr val="F2F5FA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71600" y="2880360"/>
            <a:ext cx="7132320" cy="548640"/>
            <a:chOff x="0" y="0"/>
            <a:chExt cx="950976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509760" cy="731520"/>
            </a:xfrm>
            <a:custGeom>
              <a:avLst/>
              <a:gdLst/>
              <a:ahLst/>
              <a:cxnLst/>
              <a:rect r="r" b="b" t="t" l="l"/>
              <a:pathLst>
                <a:path h="7315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950976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150">
                  <a:solidFill>
                    <a:srgbClr val="AD7A0C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YA EXISTE (simulado)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70554" y="3849039"/>
            <a:ext cx="7334412" cy="1196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2823" indent="-236411" lvl="1">
              <a:lnSpc>
                <a:spcPts val="3135"/>
              </a:lnSpc>
              <a:buFont typeface="Arial"/>
              <a:buChar char="•"/>
            </a:pPr>
            <a:r>
              <a:rPr lang="en-US" sz="2612">
                <a:solidFill>
                  <a:srgbClr val="0F1729"/>
                </a:solidFill>
                <a:latin typeface="Open Sans 1"/>
                <a:ea typeface="Open Sans 1"/>
                <a:cs typeface="Open Sans 1"/>
                <a:sym typeface="Open Sans 1"/>
              </a:rPr>
              <a:t>Modelo de datos de planes y suscripciones</a:t>
            </a:r>
          </a:p>
          <a:p>
            <a:pPr algn="l" marL="472823" indent="-236411" lvl="1">
              <a:lnSpc>
                <a:spcPts val="3135"/>
              </a:lnSpc>
              <a:buFont typeface="Arial"/>
              <a:buChar char="•"/>
            </a:pPr>
            <a:r>
              <a:rPr lang="en-US" sz="2612">
                <a:solidFill>
                  <a:srgbClr val="0F1729"/>
                </a:solidFill>
                <a:latin typeface="Open Sans 1"/>
                <a:ea typeface="Open Sans 1"/>
                <a:cs typeface="Open Sans 1"/>
                <a:sym typeface="Open Sans 1"/>
              </a:rPr>
              <a:t>Flujo de checkout y activación</a:t>
            </a:r>
          </a:p>
          <a:p>
            <a:pPr algn="l" marL="472823" indent="-236411" lvl="1">
              <a:lnSpc>
                <a:spcPts val="3135"/>
              </a:lnSpc>
              <a:buFont typeface="Arial"/>
              <a:buChar char="•"/>
            </a:pPr>
            <a:r>
              <a:rPr lang="en-US" sz="2612">
                <a:solidFill>
                  <a:srgbClr val="0F1729"/>
                </a:solidFill>
                <a:latin typeface="Open Sans 1"/>
                <a:ea typeface="Open Sans 1"/>
                <a:cs typeface="Open Sans 1"/>
                <a:sym typeface="Open Sans 1"/>
              </a:rPr>
              <a:t>Vista de administración de planes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395460" y="2606040"/>
            <a:ext cx="7886700" cy="3909060"/>
            <a:chOff x="0" y="0"/>
            <a:chExt cx="10515600" cy="5212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515600" cy="5212080"/>
            </a:xfrm>
            <a:custGeom>
              <a:avLst/>
              <a:gdLst/>
              <a:ahLst/>
              <a:cxnLst/>
              <a:rect r="r" b="b" t="t" l="l"/>
              <a:pathLst>
                <a:path h="5212080" w="105156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296144" y="0"/>
                  </a:lnTo>
                  <a:cubicBezTo>
                    <a:pt x="10417302" y="0"/>
                    <a:pt x="10515600" y="98298"/>
                    <a:pt x="10515600" y="219456"/>
                  </a:cubicBezTo>
                  <a:lnTo>
                    <a:pt x="10515600" y="4992624"/>
                  </a:lnTo>
                  <a:cubicBezTo>
                    <a:pt x="10515600" y="5113782"/>
                    <a:pt x="10417302" y="5212080"/>
                    <a:pt x="10296144" y="5212080"/>
                  </a:cubicBezTo>
                  <a:lnTo>
                    <a:pt x="219456" y="5212080"/>
                  </a:lnTo>
                  <a:cubicBezTo>
                    <a:pt x="98298" y="5212080"/>
                    <a:pt x="0" y="5113782"/>
                    <a:pt x="0" y="4992624"/>
                  </a:cubicBezTo>
                  <a:close/>
                </a:path>
              </a:pathLst>
            </a:custGeom>
            <a:solidFill>
              <a:srgbClr val="2B4772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806940" y="2880360"/>
            <a:ext cx="7132320" cy="548640"/>
            <a:chOff x="0" y="0"/>
            <a:chExt cx="950976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509760" cy="731520"/>
            </a:xfrm>
            <a:custGeom>
              <a:avLst/>
              <a:gdLst/>
              <a:ahLst/>
              <a:cxnLst/>
              <a:rect r="r" b="b" t="t" l="l"/>
              <a:pathLst>
                <a:path h="7315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950976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150">
                  <a:solidFill>
                    <a:srgbClr val="D9A52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POR COMPLETAR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9829800" y="3868089"/>
            <a:ext cx="7452360" cy="1082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5131" indent="-217566" lvl="1">
              <a:lnSpc>
                <a:spcPts val="2885"/>
              </a:lnSpc>
              <a:buFont typeface="Arial"/>
              <a:buChar char="•"/>
            </a:pPr>
            <a:r>
              <a:rPr lang="en-US" sz="2404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Integración real con Stripe (modo test)</a:t>
            </a:r>
          </a:p>
          <a:p>
            <a:pPr algn="l" marL="435131" indent="-217566" lvl="1">
              <a:lnSpc>
                <a:spcPts val="2885"/>
              </a:lnSpc>
              <a:buFont typeface="Arial"/>
              <a:buChar char="•"/>
            </a:pPr>
            <a:r>
              <a:rPr lang="en-US" sz="2404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Sincronización de precios y validación de pagos</a:t>
            </a:r>
          </a:p>
          <a:p>
            <a:pPr algn="l" marL="435131" indent="-217566" lvl="1">
              <a:lnSpc>
                <a:spcPts val="2885"/>
              </a:lnSpc>
              <a:buFont typeface="Arial"/>
              <a:buChar char="•"/>
            </a:pPr>
            <a:r>
              <a:rPr lang="en-US" sz="2404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Documentación y pruebas de todo el flujo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60120" y="6789420"/>
            <a:ext cx="7886700" cy="2400300"/>
            <a:chOff x="0" y="0"/>
            <a:chExt cx="10515600" cy="3200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515600" cy="3200400"/>
            </a:xfrm>
            <a:custGeom>
              <a:avLst/>
              <a:gdLst/>
              <a:ahLst/>
              <a:cxnLst/>
              <a:rect r="r" b="b" t="t" l="l"/>
              <a:pathLst>
                <a:path h="3200400" w="105156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296144" y="0"/>
                  </a:lnTo>
                  <a:cubicBezTo>
                    <a:pt x="10417302" y="0"/>
                    <a:pt x="10515600" y="98298"/>
                    <a:pt x="10515600" y="219456"/>
                  </a:cubicBezTo>
                  <a:lnTo>
                    <a:pt x="10515600" y="2980944"/>
                  </a:lnTo>
                  <a:cubicBezTo>
                    <a:pt x="10515600" y="3102102"/>
                    <a:pt x="10417302" y="3200400"/>
                    <a:pt x="10296144" y="3200400"/>
                  </a:cubicBezTo>
                  <a:lnTo>
                    <a:pt x="219456" y="3200400"/>
                  </a:lnTo>
                  <a:cubicBezTo>
                    <a:pt x="98298" y="3200400"/>
                    <a:pt x="0" y="3102102"/>
                    <a:pt x="0" y="2980944"/>
                  </a:cubicBezTo>
                  <a:close/>
                </a:path>
              </a:pathLst>
            </a:custGeom>
            <a:solidFill>
              <a:srgbClr val="F2F5FA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371600" y="6995160"/>
            <a:ext cx="7132320" cy="480060"/>
            <a:chOff x="0" y="0"/>
            <a:chExt cx="9509760" cy="6400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509760" cy="640080"/>
            </a:xfrm>
            <a:custGeom>
              <a:avLst/>
              <a:gdLst/>
              <a:ahLst/>
              <a:cxnLst/>
              <a:rect r="r" b="b" t="t" l="l"/>
              <a:pathLst>
                <a:path h="6400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491" r="0" b="-2394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9525"/>
              <a:ext cx="9509760" cy="6305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AD7A0C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MATERIALES Y FACILITADORES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71600" y="7410450"/>
            <a:ext cx="7475886" cy="1642110"/>
            <a:chOff x="0" y="0"/>
            <a:chExt cx="9158394" cy="20116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58394" cy="2011680"/>
            </a:xfrm>
            <a:custGeom>
              <a:avLst/>
              <a:gdLst/>
              <a:ahLst/>
              <a:cxnLst/>
              <a:rect r="r" b="b" t="t" l="l"/>
              <a:pathLst>
                <a:path h="2011680" w="9158394">
                  <a:moveTo>
                    <a:pt x="0" y="0"/>
                  </a:moveTo>
                  <a:lnTo>
                    <a:pt x="9158394" y="0"/>
                  </a:lnTo>
                  <a:lnTo>
                    <a:pt x="9158394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225" r="-2838" b="-4122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9525"/>
              <a:ext cx="9158394" cy="20021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5B6B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Acceso al código y documentación existentes, cuenta de prueba gratuita de Stripe, y documentación técnica previa del proyecto (API, modelo de datos, plan de sprints).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395460" y="6789420"/>
            <a:ext cx="7886700" cy="2400300"/>
            <a:chOff x="0" y="0"/>
            <a:chExt cx="10515600" cy="3200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515600" cy="3200400"/>
            </a:xfrm>
            <a:custGeom>
              <a:avLst/>
              <a:gdLst/>
              <a:ahLst/>
              <a:cxnLst/>
              <a:rect r="r" b="b" t="t" l="l"/>
              <a:pathLst>
                <a:path h="3200400" w="105156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296144" y="0"/>
                  </a:lnTo>
                  <a:cubicBezTo>
                    <a:pt x="10417302" y="0"/>
                    <a:pt x="10515600" y="98298"/>
                    <a:pt x="10515600" y="219456"/>
                  </a:cubicBezTo>
                  <a:lnTo>
                    <a:pt x="10515600" y="2980944"/>
                  </a:lnTo>
                  <a:cubicBezTo>
                    <a:pt x="10515600" y="3102102"/>
                    <a:pt x="10417302" y="3200400"/>
                    <a:pt x="10296144" y="3200400"/>
                  </a:cubicBezTo>
                  <a:lnTo>
                    <a:pt x="219456" y="3200400"/>
                  </a:lnTo>
                  <a:cubicBezTo>
                    <a:pt x="98298" y="3200400"/>
                    <a:pt x="0" y="3102102"/>
                    <a:pt x="0" y="2980944"/>
                  </a:cubicBezTo>
                  <a:close/>
                </a:path>
              </a:pathLst>
            </a:custGeom>
            <a:solidFill>
              <a:srgbClr val="2B4772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806940" y="6995160"/>
            <a:ext cx="7132320" cy="480060"/>
            <a:chOff x="0" y="0"/>
            <a:chExt cx="9509760" cy="6400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509760" cy="640080"/>
            </a:xfrm>
            <a:custGeom>
              <a:avLst/>
              <a:gdLst/>
              <a:ahLst/>
              <a:cxnLst/>
              <a:rect r="r" b="b" t="t" l="l"/>
              <a:pathLst>
                <a:path h="6400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491" r="0" b="-23949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9525"/>
              <a:ext cx="9509760" cy="6305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D9A52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RIESGO Y MITIGACIÓN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632893" y="7386178"/>
            <a:ext cx="7480617" cy="1597802"/>
            <a:chOff x="0" y="0"/>
            <a:chExt cx="9418320" cy="20116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418320" cy="2011680"/>
            </a:xfrm>
            <a:custGeom>
              <a:avLst/>
              <a:gdLst/>
              <a:ahLst/>
              <a:cxnLst/>
              <a:rect r="r" b="b" t="t" l="l"/>
              <a:pathLst>
                <a:path h="2011680" w="9418320">
                  <a:moveTo>
                    <a:pt x="0" y="0"/>
                  </a:moveTo>
                  <a:lnTo>
                    <a:pt x="9418320" y="0"/>
                  </a:lnTo>
                  <a:lnTo>
                    <a:pt x="941832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225" r="0" b="-4122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9525"/>
              <a:ext cx="9418320" cy="20021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FB0CE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Curva de aprendizaje de la API de Stripe se mitiga dedicando las primeras semanas a estudiar su documentación oficial en modo test.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754380"/>
            <a:ext cx="1234440" cy="1234440"/>
            <a:chOff x="0" y="0"/>
            <a:chExt cx="164592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0F172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71093" y="902513"/>
            <a:ext cx="938174" cy="938174"/>
            <a:chOff x="0" y="0"/>
            <a:chExt cx="1250899" cy="1250899"/>
          </a:xfrm>
        </p:grpSpPr>
        <p:sp>
          <p:nvSpPr>
            <p:cNvPr name="Freeform 5" id="5" descr="/home/claude/deck_assets/objetivos.png"/>
            <p:cNvSpPr/>
            <p:nvPr/>
          </p:nvSpPr>
          <p:spPr>
            <a:xfrm flipH="false" flipV="false" rot="0">
              <a:off x="0" y="0"/>
              <a:ext cx="1250950" cy="1250950"/>
            </a:xfrm>
            <a:custGeom>
              <a:avLst/>
              <a:gdLst/>
              <a:ahLst/>
              <a:cxnLst/>
              <a:rect r="r" b="b" t="t" l="l"/>
              <a:pathLst>
                <a:path h="1250950" w="1250950">
                  <a:moveTo>
                    <a:pt x="0" y="0"/>
                  </a:moveTo>
                  <a:lnTo>
                    <a:pt x="1250950" y="0"/>
                  </a:lnTo>
                  <a:lnTo>
                    <a:pt x="1250950" y="1250950"/>
                  </a:lnTo>
                  <a:lnTo>
                    <a:pt x="0" y="1250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4" b="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331720" y="685800"/>
            <a:ext cx="14401800" cy="411480"/>
            <a:chOff x="0" y="0"/>
            <a:chExt cx="1920240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202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976" r="0" b="-63197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9202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AD7A0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HACIA DÓNDE VAMOS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331720" y="1069848"/>
            <a:ext cx="15087600" cy="1028700"/>
            <a:chOff x="0" y="0"/>
            <a:chExt cx="20116800" cy="1371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1168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780" r="0" b="-23578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011680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F17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Objetivos del proyecto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60120" y="2606040"/>
            <a:ext cx="16322040" cy="1577340"/>
            <a:chOff x="0" y="0"/>
            <a:chExt cx="21762720" cy="21031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762720" cy="2103120"/>
            </a:xfrm>
            <a:custGeom>
              <a:avLst/>
              <a:gdLst/>
              <a:ahLst/>
              <a:cxnLst/>
              <a:rect r="r" b="b" t="t" l="l"/>
              <a:pathLst>
                <a:path h="2103120" w="217627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21543263" y="0"/>
                  </a:lnTo>
                  <a:cubicBezTo>
                    <a:pt x="21664422" y="0"/>
                    <a:pt x="21762720" y="98298"/>
                    <a:pt x="21762720" y="219456"/>
                  </a:cubicBezTo>
                  <a:lnTo>
                    <a:pt x="21762720" y="1883664"/>
                  </a:lnTo>
                  <a:cubicBezTo>
                    <a:pt x="21762720" y="2004822"/>
                    <a:pt x="21664422" y="2103120"/>
                    <a:pt x="21543263" y="2103120"/>
                  </a:cubicBezTo>
                  <a:lnTo>
                    <a:pt x="219456" y="2103120"/>
                  </a:lnTo>
                  <a:cubicBezTo>
                    <a:pt x="98298" y="2103120"/>
                    <a:pt x="0" y="2004822"/>
                    <a:pt x="0" y="1883664"/>
                  </a:cubicBezTo>
                  <a:close/>
                </a:path>
              </a:pathLst>
            </a:custGeom>
            <a:solidFill>
              <a:srgbClr val="2B477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71600" y="2784348"/>
            <a:ext cx="5486400" cy="411480"/>
            <a:chOff x="0" y="0"/>
            <a:chExt cx="7315200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1520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73152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50">
                  <a:solidFill>
                    <a:srgbClr val="D9A52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OBJETIVO GENERAL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371600" y="3182112"/>
            <a:ext cx="1549908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175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Diseñar, documentar y completar la implementación del módulo de gestión de planes de suscripción y pago, integrando su cobro real mediante Stripe.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60120" y="4526280"/>
            <a:ext cx="6858000" cy="480060"/>
            <a:chOff x="0" y="0"/>
            <a:chExt cx="9144000" cy="640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44000" cy="640080"/>
            </a:xfrm>
            <a:custGeom>
              <a:avLst/>
              <a:gdLst/>
              <a:ahLst/>
              <a:cxnLst/>
              <a:rect r="r" b="b" t="t" l="l"/>
              <a:pathLst>
                <a:path h="64008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9525"/>
              <a:ext cx="9144000" cy="6305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49">
                  <a:solidFill>
                    <a:srgbClr val="5B6B85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OBJETIVOS ESPECÍFICOS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60120" y="5102352"/>
            <a:ext cx="5280660" cy="2125980"/>
            <a:chOff x="0" y="0"/>
            <a:chExt cx="7040880" cy="28346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040880" cy="2834640"/>
            </a:xfrm>
            <a:custGeom>
              <a:avLst/>
              <a:gdLst/>
              <a:ahLst/>
              <a:cxnLst/>
              <a:rect r="r" b="b" t="t" l="l"/>
              <a:pathLst>
                <a:path h="2834640" w="70408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821424" y="0"/>
                  </a:lnTo>
                  <a:cubicBezTo>
                    <a:pt x="6942582" y="0"/>
                    <a:pt x="7040880" y="98298"/>
                    <a:pt x="7040880" y="219456"/>
                  </a:cubicBezTo>
                  <a:lnTo>
                    <a:pt x="7040880" y="2615184"/>
                  </a:lnTo>
                  <a:cubicBezTo>
                    <a:pt x="7040880" y="2736342"/>
                    <a:pt x="6942582" y="2834640"/>
                    <a:pt x="6821424" y="2834640"/>
                  </a:cubicBezTo>
                  <a:lnTo>
                    <a:pt x="219456" y="2834640"/>
                  </a:lnTo>
                  <a:cubicBezTo>
                    <a:pt x="98298" y="2834640"/>
                    <a:pt x="0" y="2736342"/>
                    <a:pt x="0" y="2615184"/>
                  </a:cubicBezTo>
                  <a:close/>
                </a:path>
              </a:pathLst>
            </a:custGeom>
            <a:solidFill>
              <a:srgbClr val="F2F5F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303020" y="5445252"/>
            <a:ext cx="617220" cy="617220"/>
            <a:chOff x="0" y="0"/>
            <a:chExt cx="822960" cy="8229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0F1729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303020" y="5445252"/>
            <a:ext cx="617220" cy="617220"/>
            <a:chOff x="0" y="0"/>
            <a:chExt cx="822960" cy="8229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822960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D9A52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1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303020" y="6209157"/>
            <a:ext cx="459486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0F1729"/>
                </a:solidFill>
                <a:latin typeface="Open Sans 1"/>
                <a:ea typeface="Open Sans 1"/>
                <a:cs typeface="Open Sans 1"/>
                <a:sym typeface="Open Sans 1"/>
              </a:rPr>
              <a:t>Levantar los requerimientos funcionales y no funcionales del módulo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6515100" y="5102352"/>
            <a:ext cx="5280660" cy="2125980"/>
            <a:chOff x="0" y="0"/>
            <a:chExt cx="7040880" cy="28346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040880" cy="2834640"/>
            </a:xfrm>
            <a:custGeom>
              <a:avLst/>
              <a:gdLst/>
              <a:ahLst/>
              <a:cxnLst/>
              <a:rect r="r" b="b" t="t" l="l"/>
              <a:pathLst>
                <a:path h="2834640" w="70408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821424" y="0"/>
                  </a:lnTo>
                  <a:cubicBezTo>
                    <a:pt x="6942582" y="0"/>
                    <a:pt x="7040880" y="98298"/>
                    <a:pt x="7040880" y="219456"/>
                  </a:cubicBezTo>
                  <a:lnTo>
                    <a:pt x="7040880" y="2615184"/>
                  </a:lnTo>
                  <a:cubicBezTo>
                    <a:pt x="7040880" y="2736342"/>
                    <a:pt x="6942582" y="2834640"/>
                    <a:pt x="6821424" y="2834640"/>
                  </a:cubicBezTo>
                  <a:lnTo>
                    <a:pt x="219456" y="2834640"/>
                  </a:lnTo>
                  <a:cubicBezTo>
                    <a:pt x="98298" y="2834640"/>
                    <a:pt x="0" y="2736342"/>
                    <a:pt x="0" y="2615184"/>
                  </a:cubicBezTo>
                  <a:close/>
                </a:path>
              </a:pathLst>
            </a:custGeom>
            <a:solidFill>
              <a:srgbClr val="F2F5FA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6858000" y="5445252"/>
            <a:ext cx="617220" cy="617220"/>
            <a:chOff x="0" y="0"/>
            <a:chExt cx="822960" cy="8229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0F1729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6858000" y="5445252"/>
            <a:ext cx="617220" cy="617220"/>
            <a:chOff x="0" y="0"/>
            <a:chExt cx="822960" cy="8229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822960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D9A52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2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6858000" y="6209157"/>
            <a:ext cx="459486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0F1729"/>
                </a:solidFill>
                <a:latin typeface="Open Sans 1"/>
                <a:ea typeface="Open Sans 1"/>
                <a:cs typeface="Open Sans 1"/>
                <a:sym typeface="Open Sans 1"/>
              </a:rPr>
              <a:t>Documentar el modelo de datos y casos de uso ya implementados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2070080" y="5102352"/>
            <a:ext cx="5280660" cy="2125980"/>
            <a:chOff x="0" y="0"/>
            <a:chExt cx="7040880" cy="28346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040880" cy="2834640"/>
            </a:xfrm>
            <a:custGeom>
              <a:avLst/>
              <a:gdLst/>
              <a:ahLst/>
              <a:cxnLst/>
              <a:rect r="r" b="b" t="t" l="l"/>
              <a:pathLst>
                <a:path h="2834640" w="70408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821424" y="0"/>
                  </a:lnTo>
                  <a:cubicBezTo>
                    <a:pt x="6942582" y="0"/>
                    <a:pt x="7040880" y="98298"/>
                    <a:pt x="7040880" y="219456"/>
                  </a:cubicBezTo>
                  <a:lnTo>
                    <a:pt x="7040880" y="2615184"/>
                  </a:lnTo>
                  <a:cubicBezTo>
                    <a:pt x="7040880" y="2736342"/>
                    <a:pt x="6942582" y="2834640"/>
                    <a:pt x="6821424" y="2834640"/>
                  </a:cubicBezTo>
                  <a:lnTo>
                    <a:pt x="219456" y="2834640"/>
                  </a:lnTo>
                  <a:cubicBezTo>
                    <a:pt x="98298" y="2834640"/>
                    <a:pt x="0" y="2736342"/>
                    <a:pt x="0" y="2615184"/>
                  </a:cubicBezTo>
                  <a:close/>
                </a:path>
              </a:pathLst>
            </a:custGeom>
            <a:solidFill>
              <a:srgbClr val="F2F5FA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2412980" y="5445252"/>
            <a:ext cx="617220" cy="617220"/>
            <a:chOff x="0" y="0"/>
            <a:chExt cx="822960" cy="8229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0F1729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2412980" y="5445252"/>
            <a:ext cx="617220" cy="617220"/>
            <a:chOff x="0" y="0"/>
            <a:chExt cx="822960" cy="8229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822960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D9A52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3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2412980" y="6209157"/>
            <a:ext cx="459486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0F1729"/>
                </a:solidFill>
                <a:latin typeface="Open Sans 1"/>
                <a:ea typeface="Open Sans 1"/>
                <a:cs typeface="Open Sans 1"/>
                <a:sym typeface="Open Sans 1"/>
              </a:rPr>
              <a:t>Documentar y validar mediante mockups la interfaz Planes y productos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960120" y="7502652"/>
            <a:ext cx="5280660" cy="2125980"/>
            <a:chOff x="0" y="0"/>
            <a:chExt cx="7040880" cy="28346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040880" cy="2834640"/>
            </a:xfrm>
            <a:custGeom>
              <a:avLst/>
              <a:gdLst/>
              <a:ahLst/>
              <a:cxnLst/>
              <a:rect r="r" b="b" t="t" l="l"/>
              <a:pathLst>
                <a:path h="2834640" w="70408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821424" y="0"/>
                  </a:lnTo>
                  <a:cubicBezTo>
                    <a:pt x="6942582" y="0"/>
                    <a:pt x="7040880" y="98298"/>
                    <a:pt x="7040880" y="219456"/>
                  </a:cubicBezTo>
                  <a:lnTo>
                    <a:pt x="7040880" y="2615184"/>
                  </a:lnTo>
                  <a:cubicBezTo>
                    <a:pt x="7040880" y="2736342"/>
                    <a:pt x="6942582" y="2834640"/>
                    <a:pt x="6821424" y="2834640"/>
                  </a:cubicBezTo>
                  <a:lnTo>
                    <a:pt x="219456" y="2834640"/>
                  </a:lnTo>
                  <a:cubicBezTo>
                    <a:pt x="98298" y="2834640"/>
                    <a:pt x="0" y="2736342"/>
                    <a:pt x="0" y="2615184"/>
                  </a:cubicBezTo>
                  <a:close/>
                </a:path>
              </a:pathLst>
            </a:custGeom>
            <a:solidFill>
              <a:srgbClr val="F2F5FA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303020" y="7845552"/>
            <a:ext cx="617220" cy="617220"/>
            <a:chOff x="0" y="0"/>
            <a:chExt cx="822960" cy="8229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0F1729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303020" y="7845552"/>
            <a:ext cx="617220" cy="617220"/>
            <a:chOff x="0" y="0"/>
            <a:chExt cx="822960" cy="82296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822960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D9A52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4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1303020" y="8609457"/>
            <a:ext cx="459486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0F1729"/>
                </a:solidFill>
                <a:latin typeface="Open Sans 1"/>
                <a:ea typeface="Open Sans 1"/>
                <a:cs typeface="Open Sans 1"/>
                <a:sym typeface="Open Sans 1"/>
              </a:rPr>
              <a:t>Implementar la sincronización de precios y el procesamiento real de pagos con Stripe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6515100" y="7502652"/>
            <a:ext cx="5280660" cy="2125980"/>
            <a:chOff x="0" y="0"/>
            <a:chExt cx="7040880" cy="28346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040880" cy="2834640"/>
            </a:xfrm>
            <a:custGeom>
              <a:avLst/>
              <a:gdLst/>
              <a:ahLst/>
              <a:cxnLst/>
              <a:rect r="r" b="b" t="t" l="l"/>
              <a:pathLst>
                <a:path h="2834640" w="70408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821424" y="0"/>
                  </a:lnTo>
                  <a:cubicBezTo>
                    <a:pt x="6942582" y="0"/>
                    <a:pt x="7040880" y="98298"/>
                    <a:pt x="7040880" y="219456"/>
                  </a:cubicBezTo>
                  <a:lnTo>
                    <a:pt x="7040880" y="2615184"/>
                  </a:lnTo>
                  <a:cubicBezTo>
                    <a:pt x="7040880" y="2736342"/>
                    <a:pt x="6942582" y="2834640"/>
                    <a:pt x="6821424" y="2834640"/>
                  </a:cubicBezTo>
                  <a:lnTo>
                    <a:pt x="219456" y="2834640"/>
                  </a:lnTo>
                  <a:cubicBezTo>
                    <a:pt x="98298" y="2834640"/>
                    <a:pt x="0" y="2736342"/>
                    <a:pt x="0" y="2615184"/>
                  </a:cubicBezTo>
                  <a:close/>
                </a:path>
              </a:pathLst>
            </a:custGeom>
            <a:solidFill>
              <a:srgbClr val="F2F5FA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6858000" y="7845552"/>
            <a:ext cx="617220" cy="617220"/>
            <a:chOff x="0" y="0"/>
            <a:chExt cx="822960" cy="8229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0F1729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6858000" y="7845552"/>
            <a:ext cx="617220" cy="617220"/>
            <a:chOff x="0" y="0"/>
            <a:chExt cx="822960" cy="82296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822960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D9A52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5</a:t>
              </a: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6858000" y="8609457"/>
            <a:ext cx="459486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0F1729"/>
                </a:solidFill>
                <a:latin typeface="Open Sans 1"/>
                <a:ea typeface="Open Sans 1"/>
                <a:cs typeface="Open Sans 1"/>
                <a:sym typeface="Open Sans 1"/>
              </a:rPr>
              <a:t>Planificar y hacer seguimiento del trabajo mediante un plan de proyecto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12070080" y="7502652"/>
            <a:ext cx="5280660" cy="2125980"/>
            <a:chOff x="0" y="0"/>
            <a:chExt cx="7040880" cy="28346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040880" cy="2834640"/>
            </a:xfrm>
            <a:custGeom>
              <a:avLst/>
              <a:gdLst/>
              <a:ahLst/>
              <a:cxnLst/>
              <a:rect r="r" b="b" t="t" l="l"/>
              <a:pathLst>
                <a:path h="2834640" w="70408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821424" y="0"/>
                  </a:lnTo>
                  <a:cubicBezTo>
                    <a:pt x="6942582" y="0"/>
                    <a:pt x="7040880" y="98298"/>
                    <a:pt x="7040880" y="219456"/>
                  </a:cubicBezTo>
                  <a:lnTo>
                    <a:pt x="7040880" y="2615184"/>
                  </a:lnTo>
                  <a:cubicBezTo>
                    <a:pt x="7040880" y="2736342"/>
                    <a:pt x="6942582" y="2834640"/>
                    <a:pt x="6821424" y="2834640"/>
                  </a:cubicBezTo>
                  <a:lnTo>
                    <a:pt x="219456" y="2834640"/>
                  </a:lnTo>
                  <a:cubicBezTo>
                    <a:pt x="98298" y="2834640"/>
                    <a:pt x="0" y="2736342"/>
                    <a:pt x="0" y="2615184"/>
                  </a:cubicBezTo>
                  <a:close/>
                </a:path>
              </a:pathLst>
            </a:custGeom>
            <a:solidFill>
              <a:srgbClr val="F2F5FA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2412980" y="7845552"/>
            <a:ext cx="617220" cy="617220"/>
            <a:chOff x="0" y="0"/>
            <a:chExt cx="822960" cy="82296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0F1729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2412980" y="7845552"/>
            <a:ext cx="617220" cy="617220"/>
            <a:chOff x="0" y="0"/>
            <a:chExt cx="822960" cy="82296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822960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D9A52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6</a:t>
              </a:r>
            </a:p>
          </p:txBody>
        </p:sp>
      </p:grpSp>
      <p:sp>
        <p:nvSpPr>
          <p:cNvPr name="TextBox 68" id="68"/>
          <p:cNvSpPr txBox="true"/>
          <p:nvPr/>
        </p:nvSpPr>
        <p:spPr>
          <a:xfrm rot="0">
            <a:off x="12412980" y="8609457"/>
            <a:ext cx="459486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0F1729"/>
                </a:solidFill>
                <a:latin typeface="Open Sans 1"/>
                <a:ea typeface="Open Sans 1"/>
                <a:cs typeface="Open Sans 1"/>
                <a:sym typeface="Open Sans 1"/>
              </a:rPr>
              <a:t>Validar mediante pruebas el flujo de suscripción de principio a fin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16092983" y="9532620"/>
            <a:ext cx="1783080" cy="480060"/>
            <a:chOff x="0" y="0"/>
            <a:chExt cx="2377440" cy="64008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377440" cy="640080"/>
            </a:xfrm>
            <a:custGeom>
              <a:avLst/>
              <a:gdLst/>
              <a:ahLst/>
              <a:cxnLst/>
              <a:rect r="r" b="b" t="t" l="l"/>
              <a:pathLst>
                <a:path h="64008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372" r="0" b="-22372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237744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07 / 14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822960" y="9532620"/>
            <a:ext cx="9601200" cy="480060"/>
            <a:chOff x="0" y="0"/>
            <a:chExt cx="12801600" cy="64008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2801600" cy="640080"/>
            </a:xfrm>
            <a:custGeom>
              <a:avLst/>
              <a:gdLst/>
              <a:ahLst/>
              <a:cxnLst/>
              <a:rect r="r" b="b" t="t" l="l"/>
              <a:pathLst>
                <a:path h="64008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128016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Aprueba Administración · Módulo de pago y suscripción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754380"/>
            <a:ext cx="1234440" cy="1234440"/>
            <a:chOff x="0" y="0"/>
            <a:chExt cx="164592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0F172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71093" y="902513"/>
            <a:ext cx="938174" cy="938174"/>
            <a:chOff x="0" y="0"/>
            <a:chExt cx="1250899" cy="1250899"/>
          </a:xfrm>
        </p:grpSpPr>
        <p:sp>
          <p:nvSpPr>
            <p:cNvPr name="Freeform 5" id="5" descr="/home/claude/deck_assets/metodologia.png"/>
            <p:cNvSpPr/>
            <p:nvPr/>
          </p:nvSpPr>
          <p:spPr>
            <a:xfrm flipH="false" flipV="false" rot="0">
              <a:off x="0" y="0"/>
              <a:ext cx="1250950" cy="1250950"/>
            </a:xfrm>
            <a:custGeom>
              <a:avLst/>
              <a:gdLst/>
              <a:ahLst/>
              <a:cxnLst/>
              <a:rect r="r" b="b" t="t" l="l"/>
              <a:pathLst>
                <a:path h="1250950" w="1250950">
                  <a:moveTo>
                    <a:pt x="0" y="0"/>
                  </a:moveTo>
                  <a:lnTo>
                    <a:pt x="1250950" y="0"/>
                  </a:lnTo>
                  <a:lnTo>
                    <a:pt x="1250950" y="1250950"/>
                  </a:lnTo>
                  <a:lnTo>
                    <a:pt x="0" y="1250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4" b="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331720" y="685800"/>
            <a:ext cx="14401800" cy="411480"/>
            <a:chOff x="0" y="0"/>
            <a:chExt cx="1920240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202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976" r="0" b="-63197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9202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AD7A0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CÓMO TRABAJAMOS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331720" y="1069848"/>
            <a:ext cx="15087600" cy="1028700"/>
            <a:chOff x="0" y="0"/>
            <a:chExt cx="20116800" cy="1371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1168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780" r="0" b="-23578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011680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F17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Metodología: desarrollo incremental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371600" y="2513339"/>
            <a:ext cx="14543231" cy="252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3327" indent="-216664" lvl="1">
              <a:lnSpc>
                <a:spcPts val="2873"/>
              </a:lnSpc>
              <a:buFont typeface="Arial"/>
              <a:buChar char="•"/>
            </a:pPr>
            <a:r>
              <a:rPr lang="en-US" sz="2394">
                <a:solidFill>
                  <a:srgbClr val="0F1729"/>
                </a:solidFill>
                <a:latin typeface="Open Sans 1"/>
                <a:ea typeface="Open Sans 1"/>
                <a:cs typeface="Open Sans 1"/>
                <a:sym typeface="Open Sans 1"/>
              </a:rPr>
              <a:t>Cada incremento se analiza, diseña, implementa y valida antes de avanzar al siguiente</a:t>
            </a:r>
          </a:p>
          <a:p>
            <a:pPr algn="just">
              <a:lnSpc>
                <a:spcPts val="2873"/>
              </a:lnSpc>
            </a:pPr>
          </a:p>
          <a:p>
            <a:pPr algn="just" marL="433327" indent="-216664" lvl="1">
              <a:lnSpc>
                <a:spcPts val="2873"/>
              </a:lnSpc>
              <a:buFont typeface="Arial"/>
              <a:buChar char="•"/>
            </a:pPr>
            <a:r>
              <a:rPr lang="en-US" sz="2394">
                <a:solidFill>
                  <a:srgbClr val="0F1729"/>
                </a:solidFill>
                <a:latin typeface="Open Sans 1"/>
                <a:ea typeface="Open Sans 1"/>
                <a:cs typeface="Open Sans 1"/>
                <a:sym typeface="Open Sans 1"/>
              </a:rPr>
              <a:t>Adecuada porque parte del sistema ya existe (gestión de planes, checkout simulado) y otra parte es trabajo nuevo con más incertidumbre (Stripe)</a:t>
            </a:r>
          </a:p>
          <a:p>
            <a:pPr algn="just">
              <a:lnSpc>
                <a:spcPts val="2873"/>
              </a:lnSpc>
            </a:pPr>
          </a:p>
          <a:p>
            <a:pPr algn="just" marL="433327" indent="-216664" lvl="1">
              <a:lnSpc>
                <a:spcPts val="2873"/>
              </a:lnSpc>
              <a:buFont typeface="Arial"/>
              <a:buChar char="•"/>
            </a:pPr>
            <a:r>
              <a:rPr lang="en-US" sz="2394">
                <a:solidFill>
                  <a:srgbClr val="0F1729"/>
                </a:solidFill>
                <a:latin typeface="Open Sans 1"/>
                <a:ea typeface="Open Sans 1"/>
                <a:cs typeface="Open Sans 1"/>
                <a:sym typeface="Open Sans 1"/>
              </a:rPr>
              <a:t>En la empresa real este trabajo se organiza con Scrum (10 sprints semanales); el equipo reempaqueta ese contenido en incrementos para la asignatura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60120" y="5417820"/>
            <a:ext cx="8229600" cy="480060"/>
            <a:chOff x="0" y="0"/>
            <a:chExt cx="10972800" cy="6400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9525"/>
              <a:ext cx="10972800" cy="6305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49">
                  <a:solidFill>
                    <a:srgbClr val="5B6B85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ROLES DEL EQUIPO Y COLABORACIÓN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60120" y="5966460"/>
            <a:ext cx="5280660" cy="2948940"/>
            <a:chOff x="0" y="0"/>
            <a:chExt cx="7040880" cy="39319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040880" cy="3931920"/>
            </a:xfrm>
            <a:custGeom>
              <a:avLst/>
              <a:gdLst/>
              <a:ahLst/>
              <a:cxnLst/>
              <a:rect r="r" b="b" t="t" l="l"/>
              <a:pathLst>
                <a:path h="3931920" w="70408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821424" y="0"/>
                  </a:lnTo>
                  <a:cubicBezTo>
                    <a:pt x="6942582" y="0"/>
                    <a:pt x="7040880" y="98298"/>
                    <a:pt x="7040880" y="219456"/>
                  </a:cubicBezTo>
                  <a:lnTo>
                    <a:pt x="7040880" y="3712464"/>
                  </a:lnTo>
                  <a:cubicBezTo>
                    <a:pt x="7040880" y="3833622"/>
                    <a:pt x="6942582" y="3931920"/>
                    <a:pt x="6821424" y="3931920"/>
                  </a:cubicBezTo>
                  <a:lnTo>
                    <a:pt x="219456" y="3931920"/>
                  </a:lnTo>
                  <a:cubicBezTo>
                    <a:pt x="98298" y="3931920"/>
                    <a:pt x="0" y="3833622"/>
                    <a:pt x="0" y="3712464"/>
                  </a:cubicBezTo>
                  <a:close/>
                </a:path>
              </a:pathLst>
            </a:custGeom>
            <a:solidFill>
              <a:srgbClr val="F2F5FA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371600" y="6377940"/>
            <a:ext cx="960120" cy="960120"/>
            <a:chOff x="0" y="0"/>
            <a:chExt cx="1280160" cy="12801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0F1729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486814" y="6493154"/>
            <a:ext cx="729691" cy="729691"/>
            <a:chOff x="0" y="0"/>
            <a:chExt cx="972922" cy="972922"/>
          </a:xfrm>
        </p:grpSpPr>
        <p:sp>
          <p:nvSpPr>
            <p:cNvPr name="Freeform 21" id="21" descr="/home/claude/deck_assets/equipo.png"/>
            <p:cNvSpPr/>
            <p:nvPr/>
          </p:nvSpPr>
          <p:spPr>
            <a:xfrm flipH="false" flipV="false" rot="0">
              <a:off x="0" y="0"/>
              <a:ext cx="972947" cy="972947"/>
            </a:xfrm>
            <a:custGeom>
              <a:avLst/>
              <a:gdLst/>
              <a:ahLst/>
              <a:cxnLst/>
              <a:rect r="r" b="b" t="t" l="l"/>
              <a:pathLst>
                <a:path h="972947" w="972947">
                  <a:moveTo>
                    <a:pt x="0" y="0"/>
                  </a:moveTo>
                  <a:lnTo>
                    <a:pt x="972947" y="0"/>
                  </a:lnTo>
                  <a:lnTo>
                    <a:pt x="972947" y="972947"/>
                  </a:lnTo>
                  <a:lnTo>
                    <a:pt x="0" y="972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2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71600" y="7543800"/>
            <a:ext cx="4457700" cy="548640"/>
            <a:chOff x="0" y="0"/>
            <a:chExt cx="5943600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94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315" r="0" b="-10831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59436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0F1729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Sebastián Araya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71600" y="8092440"/>
            <a:ext cx="4457700" cy="685800"/>
            <a:chOff x="0" y="0"/>
            <a:chExt cx="5943600" cy="914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943600" cy="914400"/>
            </a:xfrm>
            <a:custGeom>
              <a:avLst/>
              <a:gdLst/>
              <a:ahLst/>
              <a:cxnLst/>
              <a:rect r="r" b="b" t="t" l="l"/>
              <a:pathLst>
                <a:path h="91440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9525"/>
              <a:ext cx="5943600" cy="904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5B6B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Requisitos y validación funcional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515100" y="5966460"/>
            <a:ext cx="5280660" cy="2948940"/>
            <a:chOff x="0" y="0"/>
            <a:chExt cx="7040880" cy="39319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040880" cy="3931920"/>
            </a:xfrm>
            <a:custGeom>
              <a:avLst/>
              <a:gdLst/>
              <a:ahLst/>
              <a:cxnLst/>
              <a:rect r="r" b="b" t="t" l="l"/>
              <a:pathLst>
                <a:path h="3931920" w="70408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821424" y="0"/>
                  </a:lnTo>
                  <a:cubicBezTo>
                    <a:pt x="6942582" y="0"/>
                    <a:pt x="7040880" y="98298"/>
                    <a:pt x="7040880" y="219456"/>
                  </a:cubicBezTo>
                  <a:lnTo>
                    <a:pt x="7040880" y="3712464"/>
                  </a:lnTo>
                  <a:cubicBezTo>
                    <a:pt x="7040880" y="3833622"/>
                    <a:pt x="6942582" y="3931920"/>
                    <a:pt x="6821424" y="3931920"/>
                  </a:cubicBezTo>
                  <a:lnTo>
                    <a:pt x="219456" y="3931920"/>
                  </a:lnTo>
                  <a:cubicBezTo>
                    <a:pt x="98298" y="3931920"/>
                    <a:pt x="0" y="3833622"/>
                    <a:pt x="0" y="3712464"/>
                  </a:cubicBezTo>
                  <a:close/>
                </a:path>
              </a:pathLst>
            </a:custGeom>
            <a:solidFill>
              <a:srgbClr val="F2F5FA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6926580" y="6377940"/>
            <a:ext cx="960120" cy="960120"/>
            <a:chOff x="0" y="0"/>
            <a:chExt cx="1280160" cy="12801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0F1729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7041794" y="6493154"/>
            <a:ext cx="729691" cy="729691"/>
            <a:chOff x="0" y="0"/>
            <a:chExt cx="972922" cy="972922"/>
          </a:xfrm>
        </p:grpSpPr>
        <p:sp>
          <p:nvSpPr>
            <p:cNvPr name="Freeform 33" id="33" descr="/home/claude/deck_assets/equipo.png"/>
            <p:cNvSpPr/>
            <p:nvPr/>
          </p:nvSpPr>
          <p:spPr>
            <a:xfrm flipH="false" flipV="false" rot="0">
              <a:off x="0" y="0"/>
              <a:ext cx="972947" cy="972947"/>
            </a:xfrm>
            <a:custGeom>
              <a:avLst/>
              <a:gdLst/>
              <a:ahLst/>
              <a:cxnLst/>
              <a:rect r="r" b="b" t="t" l="l"/>
              <a:pathLst>
                <a:path h="972947" w="972947">
                  <a:moveTo>
                    <a:pt x="0" y="0"/>
                  </a:moveTo>
                  <a:lnTo>
                    <a:pt x="972947" y="0"/>
                  </a:lnTo>
                  <a:lnTo>
                    <a:pt x="972947" y="972947"/>
                  </a:lnTo>
                  <a:lnTo>
                    <a:pt x="0" y="972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2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926580" y="7543800"/>
            <a:ext cx="4457700" cy="548640"/>
            <a:chOff x="0" y="0"/>
            <a:chExt cx="5943600" cy="731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94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315" r="0" b="-10831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59436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0F1729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César Garrido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926580" y="8092440"/>
            <a:ext cx="4457700" cy="685800"/>
            <a:chOff x="0" y="0"/>
            <a:chExt cx="5943600" cy="914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943600" cy="914400"/>
            </a:xfrm>
            <a:custGeom>
              <a:avLst/>
              <a:gdLst/>
              <a:ahLst/>
              <a:cxnLst/>
              <a:rect r="r" b="b" t="t" l="l"/>
              <a:pathLst>
                <a:path h="91440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9525"/>
              <a:ext cx="5943600" cy="904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5B6B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Diseño técnico y datos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070080" y="5966460"/>
            <a:ext cx="5280660" cy="2948940"/>
            <a:chOff x="0" y="0"/>
            <a:chExt cx="7040880" cy="39319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040880" cy="3931920"/>
            </a:xfrm>
            <a:custGeom>
              <a:avLst/>
              <a:gdLst/>
              <a:ahLst/>
              <a:cxnLst/>
              <a:rect r="r" b="b" t="t" l="l"/>
              <a:pathLst>
                <a:path h="3931920" w="70408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821424" y="0"/>
                  </a:lnTo>
                  <a:cubicBezTo>
                    <a:pt x="6942582" y="0"/>
                    <a:pt x="7040880" y="98298"/>
                    <a:pt x="7040880" y="219456"/>
                  </a:cubicBezTo>
                  <a:lnTo>
                    <a:pt x="7040880" y="3712464"/>
                  </a:lnTo>
                  <a:cubicBezTo>
                    <a:pt x="7040880" y="3833622"/>
                    <a:pt x="6942582" y="3931920"/>
                    <a:pt x="6821424" y="3931920"/>
                  </a:cubicBezTo>
                  <a:lnTo>
                    <a:pt x="219456" y="3931920"/>
                  </a:lnTo>
                  <a:cubicBezTo>
                    <a:pt x="98298" y="3931920"/>
                    <a:pt x="0" y="3833622"/>
                    <a:pt x="0" y="3712464"/>
                  </a:cubicBezTo>
                  <a:close/>
                </a:path>
              </a:pathLst>
            </a:custGeom>
            <a:solidFill>
              <a:srgbClr val="F2F5FA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481560" y="6377940"/>
            <a:ext cx="960120" cy="960120"/>
            <a:chOff x="0" y="0"/>
            <a:chExt cx="1280160" cy="12801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0F1729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2596774" y="6493154"/>
            <a:ext cx="729691" cy="729691"/>
            <a:chOff x="0" y="0"/>
            <a:chExt cx="972922" cy="972922"/>
          </a:xfrm>
        </p:grpSpPr>
        <p:sp>
          <p:nvSpPr>
            <p:cNvPr name="Freeform 45" id="45" descr="/home/claude/deck_assets/equipo.png"/>
            <p:cNvSpPr/>
            <p:nvPr/>
          </p:nvSpPr>
          <p:spPr>
            <a:xfrm flipH="false" flipV="false" rot="0">
              <a:off x="0" y="0"/>
              <a:ext cx="972947" cy="972947"/>
            </a:xfrm>
            <a:custGeom>
              <a:avLst/>
              <a:gdLst/>
              <a:ahLst/>
              <a:cxnLst/>
              <a:rect r="r" b="b" t="t" l="l"/>
              <a:pathLst>
                <a:path h="972947" w="972947">
                  <a:moveTo>
                    <a:pt x="0" y="0"/>
                  </a:moveTo>
                  <a:lnTo>
                    <a:pt x="972947" y="0"/>
                  </a:lnTo>
                  <a:lnTo>
                    <a:pt x="972947" y="972947"/>
                  </a:lnTo>
                  <a:lnTo>
                    <a:pt x="0" y="972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2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2481560" y="7543800"/>
            <a:ext cx="4457700" cy="548640"/>
            <a:chOff x="0" y="0"/>
            <a:chExt cx="5943600" cy="7315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94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315" r="0" b="-108315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59436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>
                  <a:solidFill>
                    <a:srgbClr val="0F1729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Thiare Gómez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481560" y="8092440"/>
            <a:ext cx="4457700" cy="685800"/>
            <a:chOff x="0" y="0"/>
            <a:chExt cx="5943600" cy="9144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943600" cy="914400"/>
            </a:xfrm>
            <a:custGeom>
              <a:avLst/>
              <a:gdLst/>
              <a:ahLst/>
              <a:cxnLst/>
              <a:rect r="r" b="b" t="t" l="l"/>
              <a:pathLst>
                <a:path h="91440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9525"/>
              <a:ext cx="5943600" cy="904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5B6B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Gestión, documentación formal y mockups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754380"/>
            <a:ext cx="1234440" cy="1234440"/>
            <a:chOff x="0" y="0"/>
            <a:chExt cx="164592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0F172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71093" y="902513"/>
            <a:ext cx="938174" cy="938174"/>
            <a:chOff x="0" y="0"/>
            <a:chExt cx="1250899" cy="1250899"/>
          </a:xfrm>
        </p:grpSpPr>
        <p:sp>
          <p:nvSpPr>
            <p:cNvPr name="Freeform 5" id="5" descr="/home/claude/deck_assets/incrementos.png"/>
            <p:cNvSpPr/>
            <p:nvPr/>
          </p:nvSpPr>
          <p:spPr>
            <a:xfrm flipH="false" flipV="false" rot="0">
              <a:off x="0" y="0"/>
              <a:ext cx="1250950" cy="1250950"/>
            </a:xfrm>
            <a:custGeom>
              <a:avLst/>
              <a:gdLst/>
              <a:ahLst/>
              <a:cxnLst/>
              <a:rect r="r" b="b" t="t" l="l"/>
              <a:pathLst>
                <a:path h="1250950" w="1250950">
                  <a:moveTo>
                    <a:pt x="0" y="0"/>
                  </a:moveTo>
                  <a:lnTo>
                    <a:pt x="1250950" y="0"/>
                  </a:lnTo>
                  <a:lnTo>
                    <a:pt x="1250950" y="1250950"/>
                  </a:lnTo>
                  <a:lnTo>
                    <a:pt x="0" y="1250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4" b="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331720" y="685800"/>
            <a:ext cx="14401800" cy="411480"/>
            <a:chOff x="0" y="0"/>
            <a:chExt cx="1920240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202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976" r="0" b="-63197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9202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AD7A0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HOJA DE RUTA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331720" y="1069848"/>
            <a:ext cx="15087600" cy="1028700"/>
            <a:chOff x="0" y="0"/>
            <a:chExt cx="20116800" cy="1371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1168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780" r="0" b="-23578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011680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F17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Los 5 incrementos del proyecto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>
            <a:off x="1421135" y="5265580"/>
            <a:ext cx="15400020" cy="38167"/>
          </a:xfrm>
          <a:prstGeom prst="line">
            <a:avLst/>
          </a:prstGeom>
          <a:ln cap="rnd" w="19050">
            <a:solidFill>
              <a:srgbClr val="0F172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2112264" y="4804604"/>
            <a:ext cx="960120" cy="960120"/>
            <a:chOff x="0" y="0"/>
            <a:chExt cx="1280160" cy="12801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0F1729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112264" y="4804604"/>
            <a:ext cx="960120" cy="960120"/>
            <a:chOff x="0" y="0"/>
            <a:chExt cx="1280160" cy="12801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9525"/>
              <a:ext cx="1280160" cy="1270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b="true" sz="2400">
                  <a:solidFill>
                    <a:srgbClr val="FFFFFF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I1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97280" y="5970464"/>
            <a:ext cx="2990088" cy="480060"/>
            <a:chOff x="0" y="0"/>
            <a:chExt cx="3986784" cy="640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986784" cy="640080"/>
            </a:xfrm>
            <a:custGeom>
              <a:avLst/>
              <a:gdLst/>
              <a:ahLst/>
              <a:cxnLst/>
              <a:rect r="r" b="b" t="t" l="l"/>
              <a:pathLst>
                <a:path h="640080" w="3986784">
                  <a:moveTo>
                    <a:pt x="0" y="0"/>
                  </a:moveTo>
                  <a:lnTo>
                    <a:pt x="3986784" y="0"/>
                  </a:lnTo>
                  <a:lnTo>
                    <a:pt x="398678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363" r="0" b="-7136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3986784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5B6B85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Semanas 1-3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97280" y="2884364"/>
            <a:ext cx="2990088" cy="1783080"/>
            <a:chOff x="0" y="0"/>
            <a:chExt cx="3986784" cy="23774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986784" cy="2377440"/>
            </a:xfrm>
            <a:custGeom>
              <a:avLst/>
              <a:gdLst/>
              <a:ahLst/>
              <a:cxnLst/>
              <a:rect r="r" b="b" t="t" l="l"/>
              <a:pathLst>
                <a:path h="2377440" w="3986784">
                  <a:moveTo>
                    <a:pt x="0" y="0"/>
                  </a:moveTo>
                  <a:lnTo>
                    <a:pt x="3986784" y="0"/>
                  </a:lnTo>
                  <a:lnTo>
                    <a:pt x="3986784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511" t="0" r="-26511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9525"/>
              <a:ext cx="3986784" cy="236791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0F1729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Levantamiento de información y modelo base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376672" y="4804604"/>
            <a:ext cx="960120" cy="960120"/>
            <a:chOff x="0" y="0"/>
            <a:chExt cx="1280160" cy="12801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0F1729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5376672" y="4804604"/>
            <a:ext cx="960120" cy="960120"/>
            <a:chOff x="0" y="0"/>
            <a:chExt cx="1280160" cy="12801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9525"/>
              <a:ext cx="1280160" cy="1270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b="true" sz="2400">
                  <a:solidFill>
                    <a:srgbClr val="FFFFFF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I2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361688" y="5970464"/>
            <a:ext cx="2990088" cy="480060"/>
            <a:chOff x="0" y="0"/>
            <a:chExt cx="3986784" cy="6400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86784" cy="640080"/>
            </a:xfrm>
            <a:custGeom>
              <a:avLst/>
              <a:gdLst/>
              <a:ahLst/>
              <a:cxnLst/>
              <a:rect r="r" b="b" t="t" l="l"/>
              <a:pathLst>
                <a:path h="640080" w="3986784">
                  <a:moveTo>
                    <a:pt x="0" y="0"/>
                  </a:moveTo>
                  <a:lnTo>
                    <a:pt x="3986784" y="0"/>
                  </a:lnTo>
                  <a:lnTo>
                    <a:pt x="398678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363" r="0" b="-7136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986784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5B6B85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Semanas 4-6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361688" y="2884364"/>
            <a:ext cx="2990088" cy="1783080"/>
            <a:chOff x="0" y="0"/>
            <a:chExt cx="3986784" cy="23774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986784" cy="2377440"/>
            </a:xfrm>
            <a:custGeom>
              <a:avLst/>
              <a:gdLst/>
              <a:ahLst/>
              <a:cxnLst/>
              <a:rect r="r" b="b" t="t" l="l"/>
              <a:pathLst>
                <a:path h="2377440" w="3986784">
                  <a:moveTo>
                    <a:pt x="0" y="0"/>
                  </a:moveTo>
                  <a:lnTo>
                    <a:pt x="3986784" y="0"/>
                  </a:lnTo>
                  <a:lnTo>
                    <a:pt x="3986784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511" t="0" r="-26511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9525"/>
              <a:ext cx="3986784" cy="236791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0F1729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Gestión de planes: validar el constructor ya existente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641080" y="4804604"/>
            <a:ext cx="960120" cy="960120"/>
            <a:chOff x="0" y="0"/>
            <a:chExt cx="1280160" cy="12801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0F1729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8641080" y="4804604"/>
            <a:ext cx="960120" cy="960120"/>
            <a:chOff x="0" y="0"/>
            <a:chExt cx="1280160" cy="12801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9525"/>
              <a:ext cx="1280160" cy="1270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b="true" sz="2400">
                  <a:solidFill>
                    <a:srgbClr val="FFFFFF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I3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7626096" y="5970464"/>
            <a:ext cx="2990088" cy="480060"/>
            <a:chOff x="0" y="0"/>
            <a:chExt cx="3986784" cy="6400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986784" cy="640080"/>
            </a:xfrm>
            <a:custGeom>
              <a:avLst/>
              <a:gdLst/>
              <a:ahLst/>
              <a:cxnLst/>
              <a:rect r="r" b="b" t="t" l="l"/>
              <a:pathLst>
                <a:path h="640080" w="3986784">
                  <a:moveTo>
                    <a:pt x="0" y="0"/>
                  </a:moveTo>
                  <a:lnTo>
                    <a:pt x="3986784" y="0"/>
                  </a:lnTo>
                  <a:lnTo>
                    <a:pt x="398678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363" r="0" b="-71363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3986784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5B6B85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Semanas 7-9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7626096" y="2884364"/>
            <a:ext cx="2990088" cy="1783080"/>
            <a:chOff x="0" y="0"/>
            <a:chExt cx="3986784" cy="23774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986784" cy="2377440"/>
            </a:xfrm>
            <a:custGeom>
              <a:avLst/>
              <a:gdLst/>
              <a:ahLst/>
              <a:cxnLst/>
              <a:rect r="r" b="b" t="t" l="l"/>
              <a:pathLst>
                <a:path h="2377440" w="3986784">
                  <a:moveTo>
                    <a:pt x="0" y="0"/>
                  </a:moveTo>
                  <a:lnTo>
                    <a:pt x="3986784" y="0"/>
                  </a:lnTo>
                  <a:lnTo>
                    <a:pt x="3986784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511" t="0" r="-26511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9525"/>
              <a:ext cx="3986784" cy="236791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0F1729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Checkout y suscripción: documentar y validar el flujo simulado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1905488" y="4804604"/>
            <a:ext cx="960120" cy="960120"/>
            <a:chOff x="0" y="0"/>
            <a:chExt cx="1280160" cy="12801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D9A520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1905488" y="4804604"/>
            <a:ext cx="960120" cy="960120"/>
            <a:chOff x="0" y="0"/>
            <a:chExt cx="1280160" cy="12801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9525"/>
              <a:ext cx="1280160" cy="1270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b="true" sz="2400">
                  <a:solidFill>
                    <a:srgbClr val="111827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I4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0890504" y="5970464"/>
            <a:ext cx="2990088" cy="480060"/>
            <a:chOff x="0" y="0"/>
            <a:chExt cx="3986784" cy="64008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986784" cy="640080"/>
            </a:xfrm>
            <a:custGeom>
              <a:avLst/>
              <a:gdLst/>
              <a:ahLst/>
              <a:cxnLst/>
              <a:rect r="r" b="b" t="t" l="l"/>
              <a:pathLst>
                <a:path h="640080" w="3986784">
                  <a:moveTo>
                    <a:pt x="0" y="0"/>
                  </a:moveTo>
                  <a:lnTo>
                    <a:pt x="3986784" y="0"/>
                  </a:lnTo>
                  <a:lnTo>
                    <a:pt x="398678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363" r="0" b="-71363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3986784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5B6B85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Semanas 10-13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0890504" y="2884364"/>
            <a:ext cx="2990088" cy="1783080"/>
            <a:chOff x="0" y="0"/>
            <a:chExt cx="3986784" cy="23774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986784" cy="2377440"/>
            </a:xfrm>
            <a:custGeom>
              <a:avLst/>
              <a:gdLst/>
              <a:ahLst/>
              <a:cxnLst/>
              <a:rect r="r" b="b" t="t" l="l"/>
              <a:pathLst>
                <a:path h="2377440" w="3986784">
                  <a:moveTo>
                    <a:pt x="0" y="0"/>
                  </a:moveTo>
                  <a:lnTo>
                    <a:pt x="3986784" y="0"/>
                  </a:lnTo>
                  <a:lnTo>
                    <a:pt x="3986784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511" t="0" r="-26511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9525"/>
              <a:ext cx="3986784" cy="236791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0F1729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Integración real con Stripe: precios y checkout real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5169896" y="4804604"/>
            <a:ext cx="960120" cy="960120"/>
            <a:chOff x="0" y="0"/>
            <a:chExt cx="1280160" cy="128016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0F1729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5169896" y="4804604"/>
            <a:ext cx="960120" cy="960120"/>
            <a:chOff x="0" y="0"/>
            <a:chExt cx="1280160" cy="128016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9525"/>
              <a:ext cx="1280160" cy="1270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b="true" sz="2400">
                  <a:solidFill>
                    <a:srgbClr val="FFFFFF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I5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4154912" y="5970464"/>
            <a:ext cx="2990088" cy="480060"/>
            <a:chOff x="0" y="0"/>
            <a:chExt cx="3986784" cy="6400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986784" cy="640080"/>
            </a:xfrm>
            <a:custGeom>
              <a:avLst/>
              <a:gdLst/>
              <a:ahLst/>
              <a:cxnLst/>
              <a:rect r="r" b="b" t="t" l="l"/>
              <a:pathLst>
                <a:path h="640080" w="3986784">
                  <a:moveTo>
                    <a:pt x="0" y="0"/>
                  </a:moveTo>
                  <a:lnTo>
                    <a:pt x="3986784" y="0"/>
                  </a:lnTo>
                  <a:lnTo>
                    <a:pt x="398678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363" r="0" b="-71363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3986784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5B6B85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Semanas 14-18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4154912" y="2884364"/>
            <a:ext cx="2990088" cy="1783080"/>
            <a:chOff x="0" y="0"/>
            <a:chExt cx="3986784" cy="23774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986784" cy="2377440"/>
            </a:xfrm>
            <a:custGeom>
              <a:avLst/>
              <a:gdLst/>
              <a:ahLst/>
              <a:cxnLst/>
              <a:rect r="r" b="b" t="t" l="l"/>
              <a:pathLst>
                <a:path h="2377440" w="3986784">
                  <a:moveTo>
                    <a:pt x="0" y="0"/>
                  </a:moveTo>
                  <a:lnTo>
                    <a:pt x="3986784" y="0"/>
                  </a:lnTo>
                  <a:lnTo>
                    <a:pt x="3986784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511" t="0" r="-26511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9525"/>
              <a:ext cx="3986784" cy="236791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0F1729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Cierre, pruebas y entrega final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097280" y="7331465"/>
            <a:ext cx="16322040" cy="1440180"/>
            <a:chOff x="0" y="0"/>
            <a:chExt cx="21762720" cy="19202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1762720" cy="1920240"/>
            </a:xfrm>
            <a:custGeom>
              <a:avLst/>
              <a:gdLst/>
              <a:ahLst/>
              <a:cxnLst/>
              <a:rect r="r" b="b" t="t" l="l"/>
              <a:pathLst>
                <a:path h="1920240" w="21762720">
                  <a:moveTo>
                    <a:pt x="0" y="230429"/>
                  </a:moveTo>
                  <a:cubicBezTo>
                    <a:pt x="0" y="103213"/>
                    <a:pt x="98298" y="0"/>
                    <a:pt x="219456" y="0"/>
                  </a:cubicBezTo>
                  <a:lnTo>
                    <a:pt x="21543263" y="0"/>
                  </a:lnTo>
                  <a:cubicBezTo>
                    <a:pt x="21664422" y="0"/>
                    <a:pt x="21762720" y="103213"/>
                    <a:pt x="21762720" y="230429"/>
                  </a:cubicBezTo>
                  <a:lnTo>
                    <a:pt x="21762720" y="1689811"/>
                  </a:lnTo>
                  <a:cubicBezTo>
                    <a:pt x="21762720" y="1817027"/>
                    <a:pt x="21664422" y="1920240"/>
                    <a:pt x="21543263" y="1920240"/>
                  </a:cubicBezTo>
                  <a:lnTo>
                    <a:pt x="219456" y="1920240"/>
                  </a:lnTo>
                  <a:cubicBezTo>
                    <a:pt x="98298" y="1920240"/>
                    <a:pt x="0" y="1817027"/>
                    <a:pt x="0" y="1689811"/>
                  </a:cubicBezTo>
                  <a:close/>
                </a:path>
              </a:pathLst>
            </a:custGeom>
            <a:solidFill>
              <a:srgbClr val="2B4772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508760" y="7331465"/>
            <a:ext cx="15499080" cy="1440180"/>
            <a:chOff x="0" y="0"/>
            <a:chExt cx="20665440" cy="19202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0665439" cy="1920240"/>
            </a:xfrm>
            <a:custGeom>
              <a:avLst/>
              <a:gdLst/>
              <a:ahLst/>
              <a:cxnLst/>
              <a:rect r="r" b="b" t="t" l="l"/>
              <a:pathLst>
                <a:path h="192024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077" r="0" b="-157315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20665440" cy="1920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i="true">
                  <a:solidFill>
                    <a:srgbClr val="FFFFFF"/>
                  </a:solidFill>
                  <a:latin typeface="Open Sans 1 Italics"/>
                  <a:ea typeface="Open Sans 1 Italics"/>
                  <a:cs typeface="Open Sans 1 Italics"/>
                  <a:sym typeface="Open Sans 1 Italics"/>
                </a:rPr>
                <a:t>El Incremento 4 es el más largo: implica trabajo técnico nuevo (integración real con Stripe), a diferencia de los incrementos 1-3 que en gran parte documentan y validan funcionalidad ya existente.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754380"/>
            <a:ext cx="1234440" cy="1234440"/>
            <a:chOff x="0" y="0"/>
            <a:chExt cx="164592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0F172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71093" y="902513"/>
            <a:ext cx="938174" cy="938174"/>
            <a:chOff x="0" y="0"/>
            <a:chExt cx="1250899" cy="1250899"/>
          </a:xfrm>
        </p:grpSpPr>
        <p:sp>
          <p:nvSpPr>
            <p:cNvPr name="Freeform 5" id="5" descr="/home/claude/deck_assets/plan.png"/>
            <p:cNvSpPr/>
            <p:nvPr/>
          </p:nvSpPr>
          <p:spPr>
            <a:xfrm flipH="false" flipV="false" rot="0">
              <a:off x="0" y="0"/>
              <a:ext cx="1250950" cy="1250950"/>
            </a:xfrm>
            <a:custGeom>
              <a:avLst/>
              <a:gdLst/>
              <a:ahLst/>
              <a:cxnLst/>
              <a:rect r="r" b="b" t="t" l="l"/>
              <a:pathLst>
                <a:path h="1250950" w="1250950">
                  <a:moveTo>
                    <a:pt x="0" y="0"/>
                  </a:moveTo>
                  <a:lnTo>
                    <a:pt x="1250950" y="0"/>
                  </a:lnTo>
                  <a:lnTo>
                    <a:pt x="1250950" y="1250950"/>
                  </a:lnTo>
                  <a:lnTo>
                    <a:pt x="0" y="1250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4" b="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331720" y="685800"/>
            <a:ext cx="14401800" cy="411480"/>
            <a:chOff x="0" y="0"/>
            <a:chExt cx="1920240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202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976" r="0" b="-63197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9202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AD7A0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ORGANIZACIÓN · HITOS CLAROS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331720" y="1069848"/>
            <a:ext cx="15087600" cy="1028700"/>
            <a:chOff x="0" y="0"/>
            <a:chExt cx="20116800" cy="1371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1168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780" r="0" b="-23578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011680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F17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Plan de trabajo y cronograma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45364" y="2763557"/>
            <a:ext cx="11815875" cy="754380"/>
            <a:chOff x="0" y="0"/>
            <a:chExt cx="15754499" cy="10058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754499" cy="1005840"/>
            </a:xfrm>
            <a:custGeom>
              <a:avLst/>
              <a:gdLst/>
              <a:ahLst/>
              <a:cxnLst/>
              <a:rect r="r" b="b" t="t" l="l"/>
              <a:pathLst>
                <a:path h="1005840" w="15754499">
                  <a:moveTo>
                    <a:pt x="0" y="219456"/>
                  </a:moveTo>
                  <a:cubicBezTo>
                    <a:pt x="0" y="98298"/>
                    <a:pt x="71160" y="0"/>
                    <a:pt x="158869" y="0"/>
                  </a:cubicBezTo>
                  <a:lnTo>
                    <a:pt x="15595629" y="0"/>
                  </a:lnTo>
                  <a:cubicBezTo>
                    <a:pt x="15683339" y="0"/>
                    <a:pt x="15754499" y="98298"/>
                    <a:pt x="15754499" y="219456"/>
                  </a:cubicBezTo>
                  <a:lnTo>
                    <a:pt x="15754499" y="786384"/>
                  </a:lnTo>
                  <a:cubicBezTo>
                    <a:pt x="15754499" y="907542"/>
                    <a:pt x="15683339" y="1005840"/>
                    <a:pt x="15595629" y="1005840"/>
                  </a:cubicBezTo>
                  <a:lnTo>
                    <a:pt x="158869" y="1005840"/>
                  </a:lnTo>
                  <a:cubicBezTo>
                    <a:pt x="71160" y="1005840"/>
                    <a:pt x="0" y="907542"/>
                    <a:pt x="0" y="786384"/>
                  </a:cubicBezTo>
                  <a:close/>
                </a:path>
              </a:pathLst>
            </a:custGeom>
            <a:solidFill>
              <a:srgbClr val="2B477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543243" y="2763557"/>
            <a:ext cx="6454049" cy="754380"/>
            <a:chOff x="0" y="0"/>
            <a:chExt cx="8605399" cy="10058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605399" cy="1005840"/>
            </a:xfrm>
            <a:custGeom>
              <a:avLst/>
              <a:gdLst/>
              <a:ahLst/>
              <a:cxnLst/>
              <a:rect r="r" b="b" t="t" l="l"/>
              <a:pathLst>
                <a:path h="1005840" w="8605399">
                  <a:moveTo>
                    <a:pt x="0" y="0"/>
                  </a:moveTo>
                  <a:lnTo>
                    <a:pt x="8605399" y="0"/>
                  </a:lnTo>
                  <a:lnTo>
                    <a:pt x="8605399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277" r="-38136" b="-18027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8605399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14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HITOS (Incrementos)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195879" y="2763557"/>
            <a:ext cx="1588689" cy="754380"/>
            <a:chOff x="0" y="0"/>
            <a:chExt cx="2118252" cy="10058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18252" cy="1005840"/>
            </a:xfrm>
            <a:custGeom>
              <a:avLst/>
              <a:gdLst/>
              <a:ahLst/>
              <a:cxnLst/>
              <a:rect r="r" b="b" t="t" l="l"/>
              <a:pathLst>
                <a:path h="1005840" w="2118252">
                  <a:moveTo>
                    <a:pt x="0" y="0"/>
                  </a:moveTo>
                  <a:lnTo>
                    <a:pt x="2118252" y="0"/>
                  </a:lnTo>
                  <a:lnTo>
                    <a:pt x="2118252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83" r="-38136" b="-668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118252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14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SEMANAS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45364" y="3655097"/>
            <a:ext cx="11815875" cy="891540"/>
            <a:chOff x="0" y="0"/>
            <a:chExt cx="15754499" cy="11887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754499" cy="1188720"/>
            </a:xfrm>
            <a:custGeom>
              <a:avLst/>
              <a:gdLst/>
              <a:ahLst/>
              <a:cxnLst/>
              <a:rect r="r" b="b" t="t" l="l"/>
              <a:pathLst>
                <a:path h="1188720" w="15754499">
                  <a:moveTo>
                    <a:pt x="0" y="219456"/>
                  </a:moveTo>
                  <a:cubicBezTo>
                    <a:pt x="0" y="98298"/>
                    <a:pt x="71160" y="0"/>
                    <a:pt x="158869" y="0"/>
                  </a:cubicBezTo>
                  <a:lnTo>
                    <a:pt x="15595629" y="0"/>
                  </a:lnTo>
                  <a:cubicBezTo>
                    <a:pt x="15683339" y="0"/>
                    <a:pt x="15754499" y="98298"/>
                    <a:pt x="15754499" y="219456"/>
                  </a:cubicBezTo>
                  <a:lnTo>
                    <a:pt x="15754499" y="969264"/>
                  </a:lnTo>
                  <a:cubicBezTo>
                    <a:pt x="15754499" y="1090422"/>
                    <a:pt x="15683339" y="1188720"/>
                    <a:pt x="15595629" y="1188720"/>
                  </a:cubicBezTo>
                  <a:lnTo>
                    <a:pt x="158869" y="1188720"/>
                  </a:lnTo>
                  <a:cubicBezTo>
                    <a:pt x="71160" y="1188720"/>
                    <a:pt x="0" y="1090422"/>
                    <a:pt x="0" y="969264"/>
                  </a:cubicBezTo>
                  <a:close/>
                </a:path>
              </a:pathLst>
            </a:custGeom>
            <a:solidFill>
              <a:srgbClr val="F2F5FA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461861" y="3812831"/>
            <a:ext cx="6454049" cy="891540"/>
            <a:chOff x="0" y="0"/>
            <a:chExt cx="8605399" cy="11887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605399" cy="1188720"/>
            </a:xfrm>
            <a:custGeom>
              <a:avLst/>
              <a:gdLst/>
              <a:ahLst/>
              <a:cxnLst/>
              <a:rect r="r" b="b" t="t" l="l"/>
              <a:pathLst>
                <a:path h="1188720" w="8605399">
                  <a:moveTo>
                    <a:pt x="0" y="0"/>
                  </a:moveTo>
                  <a:lnTo>
                    <a:pt x="8605399" y="0"/>
                  </a:lnTo>
                  <a:lnTo>
                    <a:pt x="8605399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-38136" b="-14485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8605399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0F172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Levantamiento de información y modelo base</a:t>
              </a:r>
            </a:p>
            <a:p>
              <a:pPr algn="l">
                <a:lnSpc>
                  <a:spcPts val="225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195879" y="3655097"/>
            <a:ext cx="1588689" cy="891540"/>
            <a:chOff x="0" y="0"/>
            <a:chExt cx="2118252" cy="11887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18252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18252">
                  <a:moveTo>
                    <a:pt x="0" y="0"/>
                  </a:moveTo>
                  <a:lnTo>
                    <a:pt x="2118252" y="0"/>
                  </a:lnTo>
                  <a:lnTo>
                    <a:pt x="2118252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33" t="0" r="-41069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118252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AD7A0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 a 4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543243" y="4546637"/>
            <a:ext cx="6454049" cy="891540"/>
            <a:chOff x="0" y="0"/>
            <a:chExt cx="8605399" cy="11887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605399" cy="1188720"/>
            </a:xfrm>
            <a:custGeom>
              <a:avLst/>
              <a:gdLst/>
              <a:ahLst/>
              <a:cxnLst/>
              <a:rect r="r" b="b" t="t" l="l"/>
              <a:pathLst>
                <a:path h="1188720" w="8605399">
                  <a:moveTo>
                    <a:pt x="0" y="0"/>
                  </a:moveTo>
                  <a:lnTo>
                    <a:pt x="8605399" y="0"/>
                  </a:lnTo>
                  <a:lnTo>
                    <a:pt x="8605399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-38136" b="-14485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8605399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0F172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Gestión de planes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195879" y="4679987"/>
            <a:ext cx="1588689" cy="891540"/>
            <a:chOff x="0" y="0"/>
            <a:chExt cx="2118252" cy="11887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18252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18252">
                  <a:moveTo>
                    <a:pt x="0" y="0"/>
                  </a:moveTo>
                  <a:lnTo>
                    <a:pt x="2118252" y="0"/>
                  </a:lnTo>
                  <a:lnTo>
                    <a:pt x="2118252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33" t="0" r="-41069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2118252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AD7A0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 a 6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45364" y="5438177"/>
            <a:ext cx="11815875" cy="891540"/>
            <a:chOff x="0" y="0"/>
            <a:chExt cx="15754499" cy="11887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5754499" cy="1188720"/>
            </a:xfrm>
            <a:custGeom>
              <a:avLst/>
              <a:gdLst/>
              <a:ahLst/>
              <a:cxnLst/>
              <a:rect r="r" b="b" t="t" l="l"/>
              <a:pathLst>
                <a:path h="1188720" w="15754499">
                  <a:moveTo>
                    <a:pt x="0" y="219456"/>
                  </a:moveTo>
                  <a:cubicBezTo>
                    <a:pt x="0" y="98298"/>
                    <a:pt x="71160" y="0"/>
                    <a:pt x="158869" y="0"/>
                  </a:cubicBezTo>
                  <a:lnTo>
                    <a:pt x="15595629" y="0"/>
                  </a:lnTo>
                  <a:cubicBezTo>
                    <a:pt x="15683339" y="0"/>
                    <a:pt x="15754499" y="98298"/>
                    <a:pt x="15754499" y="219456"/>
                  </a:cubicBezTo>
                  <a:lnTo>
                    <a:pt x="15754499" y="969264"/>
                  </a:lnTo>
                  <a:cubicBezTo>
                    <a:pt x="15754499" y="1090422"/>
                    <a:pt x="15683339" y="1188720"/>
                    <a:pt x="15595629" y="1188720"/>
                  </a:cubicBezTo>
                  <a:lnTo>
                    <a:pt x="158869" y="1188720"/>
                  </a:lnTo>
                  <a:cubicBezTo>
                    <a:pt x="71160" y="1188720"/>
                    <a:pt x="0" y="1090422"/>
                    <a:pt x="0" y="969264"/>
                  </a:cubicBezTo>
                  <a:close/>
                </a:path>
              </a:pathLst>
            </a:custGeom>
            <a:solidFill>
              <a:srgbClr val="F2F5FA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543243" y="5438177"/>
            <a:ext cx="6454049" cy="891540"/>
            <a:chOff x="0" y="0"/>
            <a:chExt cx="8605399" cy="11887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605399" cy="1188720"/>
            </a:xfrm>
            <a:custGeom>
              <a:avLst/>
              <a:gdLst/>
              <a:ahLst/>
              <a:cxnLst/>
              <a:rect r="r" b="b" t="t" l="l"/>
              <a:pathLst>
                <a:path h="1188720" w="8605399">
                  <a:moveTo>
                    <a:pt x="0" y="0"/>
                  </a:moveTo>
                  <a:lnTo>
                    <a:pt x="8605399" y="0"/>
                  </a:lnTo>
                  <a:lnTo>
                    <a:pt x="8605399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-38136" b="-14485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8605399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0F172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</a:t>
              </a:r>
              <a:r>
                <a:rPr lang="en-US" sz="1875">
                  <a:solidFill>
                    <a:srgbClr val="0F172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eckout y suscripción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195879" y="5541047"/>
            <a:ext cx="1588689" cy="891540"/>
            <a:chOff x="0" y="0"/>
            <a:chExt cx="2118252" cy="11887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118252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18252">
                  <a:moveTo>
                    <a:pt x="0" y="0"/>
                  </a:moveTo>
                  <a:lnTo>
                    <a:pt x="2118252" y="0"/>
                  </a:lnTo>
                  <a:lnTo>
                    <a:pt x="2118252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33" t="0" r="-41069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2118252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AD7A0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 a 9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543243" y="6329717"/>
            <a:ext cx="6454049" cy="891540"/>
            <a:chOff x="0" y="0"/>
            <a:chExt cx="8605399" cy="11887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605399" cy="1188720"/>
            </a:xfrm>
            <a:custGeom>
              <a:avLst/>
              <a:gdLst/>
              <a:ahLst/>
              <a:cxnLst/>
              <a:rect r="r" b="b" t="t" l="l"/>
              <a:pathLst>
                <a:path h="1188720" w="8605399">
                  <a:moveTo>
                    <a:pt x="0" y="0"/>
                  </a:moveTo>
                  <a:lnTo>
                    <a:pt x="8605399" y="0"/>
                  </a:lnTo>
                  <a:lnTo>
                    <a:pt x="8605399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-38136" b="-14485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8605399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0F172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Integración con Stripe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8195879" y="6329717"/>
            <a:ext cx="1588689" cy="891540"/>
            <a:chOff x="0" y="0"/>
            <a:chExt cx="2118252" cy="11887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118252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18252">
                  <a:moveTo>
                    <a:pt x="0" y="0"/>
                  </a:moveTo>
                  <a:lnTo>
                    <a:pt x="2118252" y="0"/>
                  </a:lnTo>
                  <a:lnTo>
                    <a:pt x="2118252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33" t="0" r="-41069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2118252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AD7A0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 a 13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245364" y="7221257"/>
            <a:ext cx="11815875" cy="891540"/>
            <a:chOff x="0" y="0"/>
            <a:chExt cx="15754499" cy="11887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5754499" cy="1188720"/>
            </a:xfrm>
            <a:custGeom>
              <a:avLst/>
              <a:gdLst/>
              <a:ahLst/>
              <a:cxnLst/>
              <a:rect r="r" b="b" t="t" l="l"/>
              <a:pathLst>
                <a:path h="1188720" w="15754499">
                  <a:moveTo>
                    <a:pt x="0" y="219456"/>
                  </a:moveTo>
                  <a:cubicBezTo>
                    <a:pt x="0" y="98298"/>
                    <a:pt x="71160" y="0"/>
                    <a:pt x="158869" y="0"/>
                  </a:cubicBezTo>
                  <a:lnTo>
                    <a:pt x="15595629" y="0"/>
                  </a:lnTo>
                  <a:cubicBezTo>
                    <a:pt x="15683339" y="0"/>
                    <a:pt x="15754499" y="98298"/>
                    <a:pt x="15754499" y="219456"/>
                  </a:cubicBezTo>
                  <a:lnTo>
                    <a:pt x="15754499" y="969264"/>
                  </a:lnTo>
                  <a:cubicBezTo>
                    <a:pt x="15754499" y="1090422"/>
                    <a:pt x="15683339" y="1188720"/>
                    <a:pt x="15595629" y="1188720"/>
                  </a:cubicBezTo>
                  <a:lnTo>
                    <a:pt x="158869" y="1188720"/>
                  </a:lnTo>
                  <a:cubicBezTo>
                    <a:pt x="71160" y="1188720"/>
                    <a:pt x="0" y="1090422"/>
                    <a:pt x="0" y="969264"/>
                  </a:cubicBezTo>
                  <a:close/>
                </a:path>
              </a:pathLst>
            </a:custGeom>
            <a:solidFill>
              <a:srgbClr val="F2F5FA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543243" y="7221257"/>
            <a:ext cx="6454049" cy="891540"/>
            <a:chOff x="0" y="0"/>
            <a:chExt cx="8605399" cy="11887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605399" cy="1188720"/>
            </a:xfrm>
            <a:custGeom>
              <a:avLst/>
              <a:gdLst/>
              <a:ahLst/>
              <a:cxnLst/>
              <a:rect r="r" b="b" t="t" l="l"/>
              <a:pathLst>
                <a:path h="1188720" w="8605399">
                  <a:moveTo>
                    <a:pt x="0" y="0"/>
                  </a:moveTo>
                  <a:lnTo>
                    <a:pt x="8605399" y="0"/>
                  </a:lnTo>
                  <a:lnTo>
                    <a:pt x="8605399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-38136" b="-14485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8605399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0F172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Cierre, pruebas y entrega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8195879" y="7221257"/>
            <a:ext cx="1588689" cy="891540"/>
            <a:chOff x="0" y="0"/>
            <a:chExt cx="2118252" cy="11887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118252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18252">
                  <a:moveTo>
                    <a:pt x="0" y="0"/>
                  </a:moveTo>
                  <a:lnTo>
                    <a:pt x="2118252" y="0"/>
                  </a:lnTo>
                  <a:lnTo>
                    <a:pt x="2118252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33" t="0" r="-41069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2118252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AD7A0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14 a 18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348740" y="8544635"/>
            <a:ext cx="12913155" cy="1151037"/>
            <a:chOff x="0" y="0"/>
            <a:chExt cx="17217539" cy="153471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7217540" cy="1534716"/>
            </a:xfrm>
            <a:custGeom>
              <a:avLst/>
              <a:gdLst/>
              <a:ahLst/>
              <a:cxnLst/>
              <a:rect r="r" b="b" t="t" l="l"/>
              <a:pathLst>
                <a:path h="1534716" w="17217540">
                  <a:moveTo>
                    <a:pt x="0" y="216666"/>
                  </a:moveTo>
                  <a:cubicBezTo>
                    <a:pt x="0" y="97048"/>
                    <a:pt x="77768" y="0"/>
                    <a:pt x="173622" y="0"/>
                  </a:cubicBezTo>
                  <a:lnTo>
                    <a:pt x="17043916" y="0"/>
                  </a:lnTo>
                  <a:cubicBezTo>
                    <a:pt x="17139771" y="0"/>
                    <a:pt x="17217540" y="97048"/>
                    <a:pt x="17217540" y="216666"/>
                  </a:cubicBezTo>
                  <a:lnTo>
                    <a:pt x="17217540" y="1318050"/>
                  </a:lnTo>
                  <a:cubicBezTo>
                    <a:pt x="17217540" y="1437668"/>
                    <a:pt x="17139771" y="1534716"/>
                    <a:pt x="17043916" y="1534716"/>
                  </a:cubicBezTo>
                  <a:lnTo>
                    <a:pt x="173622" y="1534716"/>
                  </a:lnTo>
                  <a:cubicBezTo>
                    <a:pt x="77768" y="1534716"/>
                    <a:pt x="0" y="1437668"/>
                    <a:pt x="0" y="1318050"/>
                  </a:cubicBezTo>
                  <a:close/>
                </a:path>
              </a:pathLst>
            </a:custGeom>
            <a:solidFill>
              <a:srgbClr val="2B4772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760220" y="8544635"/>
            <a:ext cx="15499080" cy="1151037"/>
            <a:chOff x="0" y="0"/>
            <a:chExt cx="20665440" cy="153471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0665439" cy="1534716"/>
            </a:xfrm>
            <a:custGeom>
              <a:avLst/>
              <a:gdLst/>
              <a:ahLst/>
              <a:cxnLst/>
              <a:rect r="r" b="b" t="t" l="l"/>
              <a:pathLst>
                <a:path h="1534716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1534716"/>
                  </a:lnTo>
                  <a:lnTo>
                    <a:pt x="0" y="15347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728" r="0" b="-213016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20665440" cy="15728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i="true">
                  <a:solidFill>
                    <a:srgbClr val="FFFF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Las actas de reunión y los estados de avance corren en paralelo durante las 18 semanas, no solo al cierre de cada incremento.</a:t>
              </a:r>
            </a:p>
          </p:txBody>
        </p:sp>
      </p:grpSp>
      <p:sp>
        <p:nvSpPr>
          <p:cNvPr name="Freeform 61" id="61"/>
          <p:cNvSpPr/>
          <p:nvPr/>
        </p:nvSpPr>
        <p:spPr>
          <a:xfrm flipH="false" flipV="false" rot="0">
            <a:off x="12430833" y="4729914"/>
            <a:ext cx="5857167" cy="3631443"/>
          </a:xfrm>
          <a:custGeom>
            <a:avLst/>
            <a:gdLst/>
            <a:ahLst/>
            <a:cxnLst/>
            <a:rect r="r" b="b" t="t" l="l"/>
            <a:pathLst>
              <a:path h="3631443" w="5857167">
                <a:moveTo>
                  <a:pt x="0" y="0"/>
                </a:moveTo>
                <a:lnTo>
                  <a:pt x="5857167" y="0"/>
                </a:lnTo>
                <a:lnTo>
                  <a:pt x="5857167" y="3631444"/>
                </a:lnTo>
                <a:lnTo>
                  <a:pt x="0" y="36314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754380"/>
            <a:ext cx="1234440" cy="1234440"/>
            <a:chOff x="0" y="0"/>
            <a:chExt cx="164592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0F172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71093" y="902513"/>
            <a:ext cx="938174" cy="938174"/>
            <a:chOff x="0" y="0"/>
            <a:chExt cx="1250899" cy="1250899"/>
          </a:xfrm>
        </p:grpSpPr>
        <p:sp>
          <p:nvSpPr>
            <p:cNvPr name="Freeform 5" id="5" descr="/home/claude/deck_assets/plan.png"/>
            <p:cNvSpPr/>
            <p:nvPr/>
          </p:nvSpPr>
          <p:spPr>
            <a:xfrm flipH="false" flipV="false" rot="0">
              <a:off x="0" y="0"/>
              <a:ext cx="1250950" cy="1250950"/>
            </a:xfrm>
            <a:custGeom>
              <a:avLst/>
              <a:gdLst/>
              <a:ahLst/>
              <a:cxnLst/>
              <a:rect r="r" b="b" t="t" l="l"/>
              <a:pathLst>
                <a:path h="1250950" w="1250950">
                  <a:moveTo>
                    <a:pt x="0" y="0"/>
                  </a:moveTo>
                  <a:lnTo>
                    <a:pt x="1250950" y="0"/>
                  </a:lnTo>
                  <a:lnTo>
                    <a:pt x="1250950" y="1250950"/>
                  </a:lnTo>
                  <a:lnTo>
                    <a:pt x="0" y="1250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4" b="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331720" y="685800"/>
            <a:ext cx="14401800" cy="411480"/>
            <a:chOff x="0" y="0"/>
            <a:chExt cx="1920240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202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976" r="0" b="-63197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9202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AD7A0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ORGANIZACIÓN · HITOS CLAROS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331720" y="1069848"/>
            <a:ext cx="15087600" cy="1028700"/>
            <a:chOff x="0" y="0"/>
            <a:chExt cx="20116800" cy="1371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1168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780" r="0" b="-23578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011680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F17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Plan de trabajo y cronograma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2236320" y="5788239"/>
            <a:ext cx="1098549" cy="504869"/>
          </a:xfrm>
          <a:custGeom>
            <a:avLst/>
            <a:gdLst/>
            <a:ahLst/>
            <a:cxnLst/>
            <a:rect r="r" b="b" t="t" l="l"/>
            <a:pathLst>
              <a:path h="504869" w="1098549">
                <a:moveTo>
                  <a:pt x="0" y="0"/>
                </a:moveTo>
                <a:lnTo>
                  <a:pt x="1098550" y="0"/>
                </a:lnTo>
                <a:lnTo>
                  <a:pt x="1098550" y="504868"/>
                </a:lnTo>
                <a:lnTo>
                  <a:pt x="0" y="5048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0642" r="-11606" b="-20232"/>
            </a:stretch>
          </a:blipFill>
          <a:ln w="9525" cap="sq">
            <a:solidFill>
              <a:srgbClr val="7ED957"/>
            </a:solidFill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7562319" y="5788239"/>
            <a:ext cx="1098549" cy="504869"/>
          </a:xfrm>
          <a:custGeom>
            <a:avLst/>
            <a:gdLst/>
            <a:ahLst/>
            <a:cxnLst/>
            <a:rect r="r" b="b" t="t" l="l"/>
            <a:pathLst>
              <a:path h="504869" w="1098549">
                <a:moveTo>
                  <a:pt x="0" y="0"/>
                </a:moveTo>
                <a:lnTo>
                  <a:pt x="1098549" y="0"/>
                </a:lnTo>
                <a:lnTo>
                  <a:pt x="1098549" y="504868"/>
                </a:lnTo>
                <a:lnTo>
                  <a:pt x="0" y="5048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858" t="-41851" r="0" b="-14098"/>
            </a:stretch>
          </a:blipFill>
          <a:ln w="9525" cap="sq">
            <a:solidFill>
              <a:srgbClr val="FF751F"/>
            </a:solidFill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5571220" y="5788239"/>
            <a:ext cx="1087388" cy="504869"/>
          </a:xfrm>
          <a:custGeom>
            <a:avLst/>
            <a:gdLst/>
            <a:ahLst/>
            <a:cxnLst/>
            <a:rect r="r" b="b" t="t" l="l"/>
            <a:pathLst>
              <a:path h="504869" w="1087388">
                <a:moveTo>
                  <a:pt x="0" y="0"/>
                </a:moveTo>
                <a:lnTo>
                  <a:pt x="1087388" y="0"/>
                </a:lnTo>
                <a:lnTo>
                  <a:pt x="1087388" y="504868"/>
                </a:lnTo>
                <a:lnTo>
                  <a:pt x="0" y="5048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858" t="-40918" r="0" b="-13447"/>
            </a:stretch>
          </a:blipFill>
          <a:ln w="9525" cap="sq">
            <a:solidFill>
              <a:srgbClr val="CB6CE6"/>
            </a:solidFill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8147028" y="4292321"/>
            <a:ext cx="1937714" cy="504869"/>
          </a:xfrm>
          <a:custGeom>
            <a:avLst/>
            <a:gdLst/>
            <a:ahLst/>
            <a:cxnLst/>
            <a:rect r="r" b="b" t="t" l="l"/>
            <a:pathLst>
              <a:path h="504869" w="1937714">
                <a:moveTo>
                  <a:pt x="0" y="0"/>
                </a:moveTo>
                <a:lnTo>
                  <a:pt x="1937714" y="0"/>
                </a:lnTo>
                <a:lnTo>
                  <a:pt x="1937714" y="504869"/>
                </a:lnTo>
                <a:lnTo>
                  <a:pt x="0" y="5048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858" t="-112015" r="0" b="-63062"/>
            </a:stretch>
          </a:blipFill>
          <a:ln w="9525" cap="sq">
            <a:solidFill>
              <a:srgbClr val="38B6FF"/>
            </a:solidFill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1906963" y="5788239"/>
            <a:ext cx="1087388" cy="504869"/>
          </a:xfrm>
          <a:custGeom>
            <a:avLst/>
            <a:gdLst/>
            <a:ahLst/>
            <a:cxnLst/>
            <a:rect r="r" b="b" t="t" l="l"/>
            <a:pathLst>
              <a:path h="504869" w="1087388">
                <a:moveTo>
                  <a:pt x="0" y="0"/>
                </a:moveTo>
                <a:lnTo>
                  <a:pt x="1087388" y="0"/>
                </a:lnTo>
                <a:lnTo>
                  <a:pt x="1087388" y="504868"/>
                </a:lnTo>
                <a:lnTo>
                  <a:pt x="0" y="5048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858" t="-40918" r="0" b="-13447"/>
            </a:stretch>
          </a:blipFill>
          <a:ln w="9525" cap="sq">
            <a:solidFill>
              <a:srgbClr val="38B6FF"/>
            </a:solidFill>
            <a:prstDash val="solid"/>
            <a:miter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565628" y="7180042"/>
            <a:ext cx="966208" cy="496883"/>
          </a:xfrm>
          <a:custGeom>
            <a:avLst/>
            <a:gdLst/>
            <a:ahLst/>
            <a:cxnLst/>
            <a:rect r="r" b="b" t="t" l="l"/>
            <a:pathLst>
              <a:path h="496883" w="966208">
                <a:moveTo>
                  <a:pt x="0" y="0"/>
                </a:moveTo>
                <a:lnTo>
                  <a:pt x="966208" y="0"/>
                </a:lnTo>
                <a:lnTo>
                  <a:pt x="966208" y="496884"/>
                </a:lnTo>
                <a:lnTo>
                  <a:pt x="0" y="4968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0642" r="-24886" b="-20232"/>
            </a:stretch>
          </a:blipFill>
          <a:ln w="9525" cap="sq">
            <a:solidFill>
              <a:srgbClr val="7ED957"/>
            </a:solidFill>
            <a:prstDash val="solid"/>
            <a:miter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1704859" y="7197205"/>
            <a:ext cx="985004" cy="504869"/>
          </a:xfrm>
          <a:custGeom>
            <a:avLst/>
            <a:gdLst/>
            <a:ahLst/>
            <a:cxnLst/>
            <a:rect r="r" b="b" t="t" l="l"/>
            <a:pathLst>
              <a:path h="504869" w="985004">
                <a:moveTo>
                  <a:pt x="0" y="0"/>
                </a:moveTo>
                <a:lnTo>
                  <a:pt x="985004" y="0"/>
                </a:lnTo>
                <a:lnTo>
                  <a:pt x="985004" y="504869"/>
                </a:lnTo>
                <a:lnTo>
                  <a:pt x="0" y="5048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0642" r="-24471" b="-20232"/>
            </a:stretch>
          </a:blipFill>
          <a:ln w="9525" cap="sq">
            <a:solidFill>
              <a:srgbClr val="7ED957"/>
            </a:solidFill>
            <a:prstDash val="solid"/>
            <a:miter/>
          </a:ln>
        </p:spPr>
      </p:sp>
      <p:sp>
        <p:nvSpPr>
          <p:cNvPr name="TextBox 19" id="19"/>
          <p:cNvSpPr txBox="true"/>
          <p:nvPr/>
        </p:nvSpPr>
        <p:spPr>
          <a:xfrm rot="0">
            <a:off x="2860115" y="7269747"/>
            <a:ext cx="952669" cy="315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1"/>
              </a:lnSpc>
            </a:pPr>
            <a:r>
              <a:rPr lang="en-US" b="true" sz="607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1.1.3</a:t>
            </a:r>
          </a:p>
          <a:p>
            <a:pPr algn="ctr">
              <a:lnSpc>
                <a:spcPts val="851"/>
              </a:lnSpc>
              <a:spcBef>
                <a:spcPct val="0"/>
              </a:spcBef>
            </a:pPr>
            <a:r>
              <a:rPr lang="en-US" b="true" sz="607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Documentación formal y Plan de Proyecto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072761" y="7233269"/>
            <a:ext cx="880599" cy="423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1"/>
              </a:lnSpc>
            </a:pPr>
            <a:r>
              <a:rPr lang="en-US" b="true" sz="607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1.1.4</a:t>
            </a:r>
          </a:p>
          <a:p>
            <a:pPr algn="ctr">
              <a:lnSpc>
                <a:spcPts val="851"/>
              </a:lnSpc>
              <a:spcBef>
                <a:spcPct val="0"/>
              </a:spcBef>
            </a:pPr>
            <a:r>
              <a:rPr lang="en-US" b="true" sz="607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Incremento 1: Informe y presentación inicial del proyecto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2827780" y="7203037"/>
            <a:ext cx="985004" cy="504869"/>
          </a:xfrm>
          <a:custGeom>
            <a:avLst/>
            <a:gdLst/>
            <a:ahLst/>
            <a:cxnLst/>
            <a:rect r="r" b="b" t="t" l="l"/>
            <a:pathLst>
              <a:path h="504869" w="985004">
                <a:moveTo>
                  <a:pt x="0" y="0"/>
                </a:moveTo>
                <a:lnTo>
                  <a:pt x="985003" y="0"/>
                </a:lnTo>
                <a:lnTo>
                  <a:pt x="985003" y="504868"/>
                </a:lnTo>
                <a:lnTo>
                  <a:pt x="0" y="5048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0642" r="-24471" b="-20232"/>
            </a:stretch>
          </a:blipFill>
          <a:ln w="9525" cap="sq">
            <a:solidFill>
              <a:srgbClr val="7ED957"/>
            </a:solidFill>
            <a:prstDash val="solid"/>
            <a:miter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4020558" y="7203037"/>
            <a:ext cx="985004" cy="504869"/>
          </a:xfrm>
          <a:custGeom>
            <a:avLst/>
            <a:gdLst/>
            <a:ahLst/>
            <a:cxnLst/>
            <a:rect r="r" b="b" t="t" l="l"/>
            <a:pathLst>
              <a:path h="504869" w="985004">
                <a:moveTo>
                  <a:pt x="0" y="0"/>
                </a:moveTo>
                <a:lnTo>
                  <a:pt x="985004" y="0"/>
                </a:lnTo>
                <a:lnTo>
                  <a:pt x="985004" y="504868"/>
                </a:lnTo>
                <a:lnTo>
                  <a:pt x="0" y="5048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0642" r="-24471" b="-20232"/>
            </a:stretch>
          </a:blipFill>
          <a:ln w="9525" cap="sq">
            <a:solidFill>
              <a:srgbClr val="7ED957"/>
            </a:solidFill>
            <a:prstDash val="solid"/>
            <a:miter/>
          </a:ln>
        </p:spPr>
      </p:sp>
      <p:sp>
        <p:nvSpPr>
          <p:cNvPr name="Freeform 23" id="23"/>
          <p:cNvSpPr/>
          <p:nvPr/>
        </p:nvSpPr>
        <p:spPr>
          <a:xfrm flipH="false" flipV="false" rot="0">
            <a:off x="5871277" y="7235667"/>
            <a:ext cx="985004" cy="504869"/>
          </a:xfrm>
          <a:custGeom>
            <a:avLst/>
            <a:gdLst/>
            <a:ahLst/>
            <a:cxnLst/>
            <a:rect r="r" b="b" t="t" l="l"/>
            <a:pathLst>
              <a:path h="504869" w="985004">
                <a:moveTo>
                  <a:pt x="0" y="0"/>
                </a:moveTo>
                <a:lnTo>
                  <a:pt x="985004" y="0"/>
                </a:lnTo>
                <a:lnTo>
                  <a:pt x="985004" y="504869"/>
                </a:lnTo>
                <a:lnTo>
                  <a:pt x="0" y="5048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0642" r="-24471" b="-20232"/>
            </a:stretch>
          </a:blipFill>
          <a:ln w="9525" cap="sq">
            <a:solidFill>
              <a:srgbClr val="FF751F"/>
            </a:solidFill>
            <a:prstDash val="solid"/>
            <a:miter/>
          </a:ln>
        </p:spPr>
      </p:sp>
      <p:sp>
        <p:nvSpPr>
          <p:cNvPr name="Freeform 24" id="24"/>
          <p:cNvSpPr/>
          <p:nvPr/>
        </p:nvSpPr>
        <p:spPr>
          <a:xfrm flipH="false" flipV="false" rot="0">
            <a:off x="8139874" y="7235667"/>
            <a:ext cx="985004" cy="504869"/>
          </a:xfrm>
          <a:custGeom>
            <a:avLst/>
            <a:gdLst/>
            <a:ahLst/>
            <a:cxnLst/>
            <a:rect r="r" b="b" t="t" l="l"/>
            <a:pathLst>
              <a:path h="504869" w="985004">
                <a:moveTo>
                  <a:pt x="0" y="0"/>
                </a:moveTo>
                <a:lnTo>
                  <a:pt x="985004" y="0"/>
                </a:lnTo>
                <a:lnTo>
                  <a:pt x="985004" y="504869"/>
                </a:lnTo>
                <a:lnTo>
                  <a:pt x="0" y="5048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0642" r="-24471" b="-20232"/>
            </a:stretch>
          </a:blipFill>
          <a:ln w="9525" cap="sq">
            <a:solidFill>
              <a:srgbClr val="FF751F"/>
            </a:solidFill>
            <a:prstDash val="solid"/>
            <a:miter/>
          </a:ln>
        </p:spPr>
      </p:sp>
      <p:sp>
        <p:nvSpPr>
          <p:cNvPr name="Freeform 25" id="25"/>
          <p:cNvSpPr/>
          <p:nvPr/>
        </p:nvSpPr>
        <p:spPr>
          <a:xfrm flipH="false" flipV="false" rot="0">
            <a:off x="6999513" y="7235667"/>
            <a:ext cx="985004" cy="504869"/>
          </a:xfrm>
          <a:custGeom>
            <a:avLst/>
            <a:gdLst/>
            <a:ahLst/>
            <a:cxnLst/>
            <a:rect r="r" b="b" t="t" l="l"/>
            <a:pathLst>
              <a:path h="504869" w="985004">
                <a:moveTo>
                  <a:pt x="0" y="0"/>
                </a:moveTo>
                <a:lnTo>
                  <a:pt x="985004" y="0"/>
                </a:lnTo>
                <a:lnTo>
                  <a:pt x="985004" y="504869"/>
                </a:lnTo>
                <a:lnTo>
                  <a:pt x="0" y="5048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0642" r="-24471" b="-20232"/>
            </a:stretch>
          </a:blipFill>
          <a:ln w="9525" cap="sq">
            <a:solidFill>
              <a:srgbClr val="FF751F"/>
            </a:solidFill>
            <a:prstDash val="solid"/>
            <a:miter/>
          </a:ln>
        </p:spPr>
      </p:sp>
      <p:sp>
        <p:nvSpPr>
          <p:cNvPr name="Freeform 26" id="26"/>
          <p:cNvSpPr/>
          <p:nvPr/>
        </p:nvSpPr>
        <p:spPr>
          <a:xfrm flipH="false" flipV="false" rot="0">
            <a:off x="9267760" y="7235667"/>
            <a:ext cx="985004" cy="504869"/>
          </a:xfrm>
          <a:custGeom>
            <a:avLst/>
            <a:gdLst/>
            <a:ahLst/>
            <a:cxnLst/>
            <a:rect r="r" b="b" t="t" l="l"/>
            <a:pathLst>
              <a:path h="504869" w="985004">
                <a:moveTo>
                  <a:pt x="0" y="0"/>
                </a:moveTo>
                <a:lnTo>
                  <a:pt x="985004" y="0"/>
                </a:lnTo>
                <a:lnTo>
                  <a:pt x="985004" y="504869"/>
                </a:lnTo>
                <a:lnTo>
                  <a:pt x="0" y="5048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0642" r="-24471" b="-20232"/>
            </a:stretch>
          </a:blipFill>
          <a:ln w="9525" cap="sq">
            <a:solidFill>
              <a:srgbClr val="FF751F"/>
            </a:solidFill>
            <a:prstDash val="solid"/>
            <a:miter/>
          </a:ln>
        </p:spPr>
      </p:sp>
      <p:sp>
        <p:nvSpPr>
          <p:cNvPr name="Freeform 27" id="27"/>
          <p:cNvSpPr/>
          <p:nvPr/>
        </p:nvSpPr>
        <p:spPr>
          <a:xfrm flipH="false" flipV="false" rot="0">
            <a:off x="11261072" y="7249519"/>
            <a:ext cx="985004" cy="504869"/>
          </a:xfrm>
          <a:custGeom>
            <a:avLst/>
            <a:gdLst/>
            <a:ahLst/>
            <a:cxnLst/>
            <a:rect r="r" b="b" t="t" l="l"/>
            <a:pathLst>
              <a:path h="504869" w="985004">
                <a:moveTo>
                  <a:pt x="0" y="0"/>
                </a:moveTo>
                <a:lnTo>
                  <a:pt x="985004" y="0"/>
                </a:lnTo>
                <a:lnTo>
                  <a:pt x="985004" y="504868"/>
                </a:lnTo>
                <a:lnTo>
                  <a:pt x="0" y="5048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0642" r="-24471" b="-20232"/>
            </a:stretch>
          </a:blipFill>
          <a:ln w="9525" cap="sq">
            <a:solidFill>
              <a:srgbClr val="38B6FF"/>
            </a:solidFill>
            <a:prstDash val="solid"/>
            <a:miter/>
          </a:ln>
        </p:spPr>
      </p:sp>
      <p:sp>
        <p:nvSpPr>
          <p:cNvPr name="Freeform 28" id="28"/>
          <p:cNvSpPr/>
          <p:nvPr/>
        </p:nvSpPr>
        <p:spPr>
          <a:xfrm flipH="false" flipV="false" rot="0">
            <a:off x="12642947" y="7266681"/>
            <a:ext cx="985004" cy="504869"/>
          </a:xfrm>
          <a:custGeom>
            <a:avLst/>
            <a:gdLst/>
            <a:ahLst/>
            <a:cxnLst/>
            <a:rect r="r" b="b" t="t" l="l"/>
            <a:pathLst>
              <a:path h="504869" w="985004">
                <a:moveTo>
                  <a:pt x="0" y="0"/>
                </a:moveTo>
                <a:lnTo>
                  <a:pt x="985004" y="0"/>
                </a:lnTo>
                <a:lnTo>
                  <a:pt x="985004" y="504869"/>
                </a:lnTo>
                <a:lnTo>
                  <a:pt x="0" y="5048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0642" r="-24471" b="-20232"/>
            </a:stretch>
          </a:blipFill>
          <a:ln w="9525" cap="sq">
            <a:solidFill>
              <a:srgbClr val="38B6FF"/>
            </a:solidFill>
            <a:prstDash val="solid"/>
            <a:miter/>
          </a:ln>
        </p:spPr>
      </p:sp>
      <p:sp>
        <p:nvSpPr>
          <p:cNvPr name="Freeform 29" id="29"/>
          <p:cNvSpPr/>
          <p:nvPr/>
        </p:nvSpPr>
        <p:spPr>
          <a:xfrm flipH="false" flipV="false" rot="0">
            <a:off x="14470784" y="7273406"/>
            <a:ext cx="985004" cy="504869"/>
          </a:xfrm>
          <a:custGeom>
            <a:avLst/>
            <a:gdLst/>
            <a:ahLst/>
            <a:cxnLst/>
            <a:rect r="r" b="b" t="t" l="l"/>
            <a:pathLst>
              <a:path h="504869" w="985004">
                <a:moveTo>
                  <a:pt x="0" y="0"/>
                </a:moveTo>
                <a:lnTo>
                  <a:pt x="985004" y="0"/>
                </a:lnTo>
                <a:lnTo>
                  <a:pt x="985004" y="504869"/>
                </a:lnTo>
                <a:lnTo>
                  <a:pt x="0" y="5048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0642" r="-24471" b="-20232"/>
            </a:stretch>
          </a:blipFill>
          <a:ln w="9525" cap="sq">
            <a:solidFill>
              <a:srgbClr val="CB6CE6"/>
            </a:solidFill>
            <a:prstDash val="solid"/>
            <a:miter/>
          </a:ln>
        </p:spPr>
      </p:sp>
      <p:sp>
        <p:nvSpPr>
          <p:cNvPr name="Freeform 30" id="30"/>
          <p:cNvSpPr/>
          <p:nvPr/>
        </p:nvSpPr>
        <p:spPr>
          <a:xfrm flipH="false" flipV="false" rot="0">
            <a:off x="15618154" y="7273406"/>
            <a:ext cx="985004" cy="504869"/>
          </a:xfrm>
          <a:custGeom>
            <a:avLst/>
            <a:gdLst/>
            <a:ahLst/>
            <a:cxnLst/>
            <a:rect r="r" b="b" t="t" l="l"/>
            <a:pathLst>
              <a:path h="504869" w="985004">
                <a:moveTo>
                  <a:pt x="0" y="0"/>
                </a:moveTo>
                <a:lnTo>
                  <a:pt x="985004" y="0"/>
                </a:lnTo>
                <a:lnTo>
                  <a:pt x="985004" y="504869"/>
                </a:lnTo>
                <a:lnTo>
                  <a:pt x="0" y="5048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0642" r="-24471" b="-20232"/>
            </a:stretch>
          </a:blipFill>
          <a:ln w="9525" cap="sq">
            <a:solidFill>
              <a:srgbClr val="CB6CE6"/>
            </a:solidFill>
            <a:prstDash val="solid"/>
            <a:miter/>
          </a:ln>
        </p:spPr>
      </p:sp>
      <p:sp>
        <p:nvSpPr>
          <p:cNvPr name="Freeform 31" id="31"/>
          <p:cNvSpPr/>
          <p:nvPr/>
        </p:nvSpPr>
        <p:spPr>
          <a:xfrm flipH="false" flipV="false" rot="0">
            <a:off x="16806116" y="7273406"/>
            <a:ext cx="985004" cy="504869"/>
          </a:xfrm>
          <a:custGeom>
            <a:avLst/>
            <a:gdLst/>
            <a:ahLst/>
            <a:cxnLst/>
            <a:rect r="r" b="b" t="t" l="l"/>
            <a:pathLst>
              <a:path h="504869" w="985004">
                <a:moveTo>
                  <a:pt x="0" y="0"/>
                </a:moveTo>
                <a:lnTo>
                  <a:pt x="985003" y="0"/>
                </a:lnTo>
                <a:lnTo>
                  <a:pt x="985003" y="504869"/>
                </a:lnTo>
                <a:lnTo>
                  <a:pt x="0" y="5048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0642" r="-24471" b="-20232"/>
            </a:stretch>
          </a:blipFill>
          <a:ln w="9525" cap="sq">
            <a:solidFill>
              <a:srgbClr val="CB6CE6"/>
            </a:solidFill>
            <a:prstDash val="solid"/>
            <a:miter/>
          </a:ln>
        </p:spPr>
      </p:sp>
      <p:sp>
        <p:nvSpPr>
          <p:cNvPr name="Freeform 32" id="32"/>
          <p:cNvSpPr/>
          <p:nvPr/>
        </p:nvSpPr>
        <p:spPr>
          <a:xfrm>
            <a:off x="2785595" y="4797190"/>
            <a:ext cx="6330290" cy="991048"/>
          </a:xfrm>
          <a:custGeom>
            <a:avLst/>
            <a:gdLst/>
            <a:ahLst/>
            <a:cxnLst/>
            <a:rect r="r" b="b" t="t" l="l"/>
            <a:pathLst>
              <a:path h="991048" w="6330290">
                <a:moveTo>
                  <a:pt x="0" y="991049"/>
                </a:moveTo>
                <a:lnTo>
                  <a:pt x="3117520" y="991049"/>
                </a:lnTo>
                <a:cubicBezTo>
                  <a:pt x="3143823" y="991049"/>
                  <a:pt x="3165145" y="969726"/>
                  <a:pt x="3165145" y="943424"/>
                </a:cubicBezTo>
                <a:lnTo>
                  <a:pt x="3165145" y="47625"/>
                </a:lnTo>
                <a:cubicBezTo>
                  <a:pt x="3165145" y="21322"/>
                  <a:pt x="3186467" y="0"/>
                  <a:pt x="3212770" y="0"/>
                </a:cubicBezTo>
                <a:lnTo>
                  <a:pt x="6330290" y="0"/>
                </a:lnTo>
              </a:path>
            </a:pathLst>
          </a:cu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3" id="33"/>
          <p:cNvSpPr/>
          <p:nvPr/>
        </p:nvSpPr>
        <p:spPr>
          <a:xfrm>
            <a:off x="8111593" y="4797190"/>
            <a:ext cx="1004291" cy="991048"/>
          </a:xfrm>
          <a:custGeom>
            <a:avLst/>
            <a:gdLst/>
            <a:ahLst/>
            <a:cxnLst/>
            <a:rect r="r" b="b" t="t" l="l"/>
            <a:pathLst>
              <a:path h="991048" w="1004291">
                <a:moveTo>
                  <a:pt x="0" y="991049"/>
                </a:moveTo>
                <a:lnTo>
                  <a:pt x="454521" y="991049"/>
                </a:lnTo>
                <a:cubicBezTo>
                  <a:pt x="480824" y="991049"/>
                  <a:pt x="502146" y="969726"/>
                  <a:pt x="502146" y="943424"/>
                </a:cubicBezTo>
                <a:lnTo>
                  <a:pt x="502146" y="47625"/>
                </a:lnTo>
                <a:cubicBezTo>
                  <a:pt x="502146" y="21322"/>
                  <a:pt x="523469" y="0"/>
                  <a:pt x="549771" y="0"/>
                </a:cubicBezTo>
                <a:lnTo>
                  <a:pt x="1004292" y="0"/>
                </a:lnTo>
              </a:path>
            </a:pathLst>
          </a:cu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4" id="34"/>
          <p:cNvSpPr/>
          <p:nvPr/>
        </p:nvSpPr>
        <p:spPr>
          <a:xfrm>
            <a:off x="9115885" y="4797190"/>
            <a:ext cx="3334772" cy="991048"/>
          </a:xfrm>
          <a:custGeom>
            <a:avLst/>
            <a:gdLst/>
            <a:ahLst/>
            <a:cxnLst/>
            <a:rect r="r" b="b" t="t" l="l"/>
            <a:pathLst>
              <a:path h="991048" w="3334772">
                <a:moveTo>
                  <a:pt x="3334772" y="991049"/>
                </a:moveTo>
                <a:lnTo>
                  <a:pt x="1715010" y="991049"/>
                </a:lnTo>
                <a:cubicBezTo>
                  <a:pt x="1688708" y="991049"/>
                  <a:pt x="1667385" y="969726"/>
                  <a:pt x="1667385" y="943424"/>
                </a:cubicBezTo>
                <a:lnTo>
                  <a:pt x="1667385" y="47625"/>
                </a:lnTo>
                <a:cubicBezTo>
                  <a:pt x="1667385" y="21322"/>
                  <a:pt x="1646063" y="0"/>
                  <a:pt x="1619760" y="0"/>
                </a:cubicBezTo>
                <a:lnTo>
                  <a:pt x="0" y="0"/>
                </a:lnTo>
              </a:path>
            </a:pathLst>
          </a:cu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5" id="35"/>
          <p:cNvSpPr/>
          <p:nvPr/>
        </p:nvSpPr>
        <p:spPr>
          <a:xfrm>
            <a:off x="9115885" y="4797190"/>
            <a:ext cx="6999029" cy="991048"/>
          </a:xfrm>
          <a:custGeom>
            <a:avLst/>
            <a:gdLst/>
            <a:ahLst/>
            <a:cxnLst/>
            <a:rect r="r" b="b" t="t" l="l"/>
            <a:pathLst>
              <a:path h="991048" w="6999029">
                <a:moveTo>
                  <a:pt x="0" y="0"/>
                </a:moveTo>
                <a:lnTo>
                  <a:pt x="3451890" y="0"/>
                </a:lnTo>
                <a:cubicBezTo>
                  <a:pt x="3464521" y="0"/>
                  <a:pt x="3476634" y="5018"/>
                  <a:pt x="3485566" y="13949"/>
                </a:cubicBezTo>
                <a:cubicBezTo>
                  <a:pt x="3494497" y="22881"/>
                  <a:pt x="3499515" y="34994"/>
                  <a:pt x="3499515" y="47625"/>
                </a:cubicBezTo>
                <a:lnTo>
                  <a:pt x="3499515" y="943424"/>
                </a:lnTo>
                <a:cubicBezTo>
                  <a:pt x="3499515" y="956055"/>
                  <a:pt x="3504532" y="968168"/>
                  <a:pt x="3513463" y="977099"/>
                </a:cubicBezTo>
                <a:cubicBezTo>
                  <a:pt x="3522396" y="986031"/>
                  <a:pt x="3534509" y="991049"/>
                  <a:pt x="3547140" y="991049"/>
                </a:cubicBezTo>
                <a:lnTo>
                  <a:pt x="6999029" y="991049"/>
                </a:lnTo>
              </a:path>
            </a:pathLst>
          </a:cu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6" id="36"/>
          <p:cNvSpPr/>
          <p:nvPr/>
        </p:nvSpPr>
        <p:spPr>
          <a:xfrm>
            <a:off x="1048732" y="6293107"/>
            <a:ext cx="1736863" cy="886935"/>
          </a:xfrm>
          <a:custGeom>
            <a:avLst/>
            <a:gdLst/>
            <a:ahLst/>
            <a:cxnLst/>
            <a:rect r="r" b="b" t="t" l="l"/>
            <a:pathLst>
              <a:path h="886935" w="1736863">
                <a:moveTo>
                  <a:pt x="0" y="886935"/>
                </a:moveTo>
                <a:lnTo>
                  <a:pt x="820807" y="886935"/>
                </a:lnTo>
                <a:cubicBezTo>
                  <a:pt x="847109" y="886935"/>
                  <a:pt x="868432" y="865613"/>
                  <a:pt x="868432" y="839310"/>
                </a:cubicBezTo>
                <a:lnTo>
                  <a:pt x="868432" y="47625"/>
                </a:lnTo>
                <a:cubicBezTo>
                  <a:pt x="868432" y="21323"/>
                  <a:pt x="889754" y="0"/>
                  <a:pt x="916057" y="0"/>
                </a:cubicBezTo>
                <a:lnTo>
                  <a:pt x="1736863" y="0"/>
                </a:lnTo>
              </a:path>
            </a:pathLst>
          </a:cu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7" id="37"/>
          <p:cNvSpPr/>
          <p:nvPr/>
        </p:nvSpPr>
        <p:spPr>
          <a:xfrm>
            <a:off x="2197361" y="6293107"/>
            <a:ext cx="588234" cy="904098"/>
          </a:xfrm>
          <a:custGeom>
            <a:avLst/>
            <a:gdLst/>
            <a:ahLst/>
            <a:cxnLst/>
            <a:rect r="r" b="b" t="t" l="l"/>
            <a:pathLst>
              <a:path h="904098" w="588234">
                <a:moveTo>
                  <a:pt x="0" y="904099"/>
                </a:moveTo>
                <a:lnTo>
                  <a:pt x="0" y="499675"/>
                </a:lnTo>
                <a:cubicBezTo>
                  <a:pt x="0" y="473372"/>
                  <a:pt x="21322" y="452050"/>
                  <a:pt x="47625" y="452050"/>
                </a:cubicBezTo>
                <a:lnTo>
                  <a:pt x="540609" y="452050"/>
                </a:lnTo>
                <a:cubicBezTo>
                  <a:pt x="566912" y="452050"/>
                  <a:pt x="588234" y="430727"/>
                  <a:pt x="588234" y="404425"/>
                </a:cubicBezTo>
                <a:lnTo>
                  <a:pt x="588234" y="0"/>
                </a:lnTo>
              </a:path>
            </a:pathLst>
          </a:cu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8" id="38"/>
          <p:cNvSpPr/>
          <p:nvPr/>
        </p:nvSpPr>
        <p:spPr>
          <a:xfrm>
            <a:off x="2785595" y="6293107"/>
            <a:ext cx="534686" cy="909930"/>
          </a:xfrm>
          <a:custGeom>
            <a:avLst/>
            <a:gdLst/>
            <a:ahLst/>
            <a:cxnLst/>
            <a:rect r="r" b="b" t="t" l="l"/>
            <a:pathLst>
              <a:path h="909930" w="534686">
                <a:moveTo>
                  <a:pt x="534686" y="909930"/>
                </a:moveTo>
                <a:lnTo>
                  <a:pt x="534686" y="502590"/>
                </a:lnTo>
                <a:cubicBezTo>
                  <a:pt x="534686" y="489959"/>
                  <a:pt x="529669" y="477846"/>
                  <a:pt x="520737" y="468914"/>
                </a:cubicBezTo>
                <a:cubicBezTo>
                  <a:pt x="511806" y="459982"/>
                  <a:pt x="499692" y="454965"/>
                  <a:pt x="487061" y="454965"/>
                </a:cubicBezTo>
                <a:lnTo>
                  <a:pt x="47625" y="454965"/>
                </a:lnTo>
                <a:cubicBezTo>
                  <a:pt x="34994" y="454965"/>
                  <a:pt x="22880" y="449947"/>
                  <a:pt x="13949" y="441016"/>
                </a:cubicBezTo>
                <a:cubicBezTo>
                  <a:pt x="5018" y="432084"/>
                  <a:pt x="0" y="419971"/>
                  <a:pt x="0" y="407340"/>
                </a:cubicBezTo>
                <a:lnTo>
                  <a:pt x="0" y="0"/>
                </a:lnTo>
              </a:path>
            </a:pathLst>
          </a:cu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9" id="39"/>
          <p:cNvSpPr/>
          <p:nvPr/>
        </p:nvSpPr>
        <p:spPr>
          <a:xfrm>
            <a:off x="2785595" y="6293107"/>
            <a:ext cx="1727465" cy="909930"/>
          </a:xfrm>
          <a:custGeom>
            <a:avLst/>
            <a:gdLst/>
            <a:ahLst/>
            <a:cxnLst/>
            <a:rect r="r" b="b" t="t" l="l"/>
            <a:pathLst>
              <a:path h="909930" w="1727465">
                <a:moveTo>
                  <a:pt x="0" y="0"/>
                </a:moveTo>
                <a:lnTo>
                  <a:pt x="816108" y="0"/>
                </a:lnTo>
                <a:cubicBezTo>
                  <a:pt x="842410" y="0"/>
                  <a:pt x="863733" y="21323"/>
                  <a:pt x="863733" y="47625"/>
                </a:cubicBezTo>
                <a:lnTo>
                  <a:pt x="863733" y="862305"/>
                </a:lnTo>
                <a:cubicBezTo>
                  <a:pt x="863733" y="874936"/>
                  <a:pt x="868750" y="887049"/>
                  <a:pt x="877682" y="895981"/>
                </a:cubicBezTo>
                <a:cubicBezTo>
                  <a:pt x="886613" y="904913"/>
                  <a:pt x="898727" y="909930"/>
                  <a:pt x="911358" y="909930"/>
                </a:cubicBezTo>
                <a:lnTo>
                  <a:pt x="1727465" y="909930"/>
                </a:lnTo>
              </a:path>
            </a:pathLst>
          </a:cu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0" id="40"/>
          <p:cNvSpPr/>
          <p:nvPr/>
        </p:nvSpPr>
        <p:spPr>
          <a:xfrm>
            <a:off x="6363779" y="6293107"/>
            <a:ext cx="1747814" cy="942560"/>
          </a:xfrm>
          <a:custGeom>
            <a:avLst/>
            <a:gdLst/>
            <a:ahLst/>
            <a:cxnLst/>
            <a:rect r="r" b="b" t="t" l="l"/>
            <a:pathLst>
              <a:path h="942560" w="1747814">
                <a:moveTo>
                  <a:pt x="1747814" y="0"/>
                </a:moveTo>
                <a:lnTo>
                  <a:pt x="921532" y="0"/>
                </a:lnTo>
                <a:cubicBezTo>
                  <a:pt x="895230" y="0"/>
                  <a:pt x="873907" y="21323"/>
                  <a:pt x="873907" y="47625"/>
                </a:cubicBezTo>
                <a:lnTo>
                  <a:pt x="873907" y="894935"/>
                </a:lnTo>
                <a:cubicBezTo>
                  <a:pt x="873907" y="907566"/>
                  <a:pt x="868890" y="919679"/>
                  <a:pt x="859958" y="928611"/>
                </a:cubicBezTo>
                <a:cubicBezTo>
                  <a:pt x="851026" y="937542"/>
                  <a:pt x="838913" y="942560"/>
                  <a:pt x="826282" y="942560"/>
                </a:cubicBezTo>
                <a:lnTo>
                  <a:pt x="0" y="942560"/>
                </a:lnTo>
              </a:path>
            </a:pathLst>
          </a:cu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1" id="41"/>
          <p:cNvSpPr/>
          <p:nvPr/>
        </p:nvSpPr>
        <p:spPr>
          <a:xfrm>
            <a:off x="7492015" y="6293107"/>
            <a:ext cx="619578" cy="942560"/>
          </a:xfrm>
          <a:custGeom>
            <a:avLst/>
            <a:gdLst/>
            <a:ahLst/>
            <a:cxnLst/>
            <a:rect r="r" b="b" t="t" l="l"/>
            <a:pathLst>
              <a:path h="942560" w="619578">
                <a:moveTo>
                  <a:pt x="619578" y="0"/>
                </a:moveTo>
                <a:lnTo>
                  <a:pt x="619578" y="423655"/>
                </a:lnTo>
                <a:cubicBezTo>
                  <a:pt x="619578" y="436286"/>
                  <a:pt x="614561" y="448399"/>
                  <a:pt x="605629" y="457331"/>
                </a:cubicBezTo>
                <a:cubicBezTo>
                  <a:pt x="596697" y="466263"/>
                  <a:pt x="584584" y="471280"/>
                  <a:pt x="571953" y="471280"/>
                </a:cubicBezTo>
                <a:lnTo>
                  <a:pt x="47625" y="471280"/>
                </a:lnTo>
                <a:cubicBezTo>
                  <a:pt x="21323" y="471280"/>
                  <a:pt x="0" y="492603"/>
                  <a:pt x="0" y="518905"/>
                </a:cubicBezTo>
                <a:lnTo>
                  <a:pt x="0" y="942560"/>
                </a:lnTo>
              </a:path>
            </a:pathLst>
          </a:cu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2" id="42"/>
          <p:cNvSpPr/>
          <p:nvPr/>
        </p:nvSpPr>
        <p:spPr>
          <a:xfrm>
            <a:off x="8111593" y="6293107"/>
            <a:ext cx="520782" cy="942560"/>
          </a:xfrm>
          <a:custGeom>
            <a:avLst/>
            <a:gdLst/>
            <a:ahLst/>
            <a:cxnLst/>
            <a:rect r="r" b="b" t="t" l="l"/>
            <a:pathLst>
              <a:path h="942560" w="520782">
                <a:moveTo>
                  <a:pt x="0" y="0"/>
                </a:moveTo>
                <a:lnTo>
                  <a:pt x="0" y="423655"/>
                </a:lnTo>
                <a:cubicBezTo>
                  <a:pt x="0" y="449957"/>
                  <a:pt x="21323" y="471280"/>
                  <a:pt x="47625" y="471280"/>
                </a:cubicBezTo>
                <a:lnTo>
                  <a:pt x="473157" y="471280"/>
                </a:lnTo>
                <a:cubicBezTo>
                  <a:pt x="485788" y="471280"/>
                  <a:pt x="497902" y="476298"/>
                  <a:pt x="506834" y="485229"/>
                </a:cubicBezTo>
                <a:cubicBezTo>
                  <a:pt x="515765" y="494161"/>
                  <a:pt x="520782" y="506274"/>
                  <a:pt x="520782" y="518905"/>
                </a:cubicBezTo>
                <a:lnTo>
                  <a:pt x="520782" y="942560"/>
                </a:lnTo>
              </a:path>
            </a:pathLst>
          </a:cu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3" id="43"/>
          <p:cNvSpPr/>
          <p:nvPr/>
        </p:nvSpPr>
        <p:spPr>
          <a:xfrm>
            <a:off x="8111593" y="6293107"/>
            <a:ext cx="1648668" cy="942560"/>
          </a:xfrm>
          <a:custGeom>
            <a:avLst/>
            <a:gdLst/>
            <a:ahLst/>
            <a:cxnLst/>
            <a:rect r="r" b="b" t="t" l="l"/>
            <a:pathLst>
              <a:path h="942560" w="1648668">
                <a:moveTo>
                  <a:pt x="0" y="0"/>
                </a:moveTo>
                <a:lnTo>
                  <a:pt x="776709" y="0"/>
                </a:lnTo>
                <a:cubicBezTo>
                  <a:pt x="789340" y="0"/>
                  <a:pt x="801454" y="5018"/>
                  <a:pt x="810386" y="13949"/>
                </a:cubicBezTo>
                <a:cubicBezTo>
                  <a:pt x="819317" y="22881"/>
                  <a:pt x="824334" y="34994"/>
                  <a:pt x="824334" y="47625"/>
                </a:cubicBezTo>
                <a:lnTo>
                  <a:pt x="824334" y="894935"/>
                </a:lnTo>
                <a:cubicBezTo>
                  <a:pt x="824334" y="907566"/>
                  <a:pt x="829352" y="919679"/>
                  <a:pt x="838283" y="928611"/>
                </a:cubicBezTo>
                <a:cubicBezTo>
                  <a:pt x="847215" y="937542"/>
                  <a:pt x="859328" y="942560"/>
                  <a:pt x="871959" y="942560"/>
                </a:cubicBezTo>
                <a:lnTo>
                  <a:pt x="1648669" y="942560"/>
                </a:lnTo>
              </a:path>
            </a:pathLst>
          </a:cu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4" id="44"/>
          <p:cNvSpPr/>
          <p:nvPr/>
        </p:nvSpPr>
        <p:spPr>
          <a:xfrm>
            <a:off x="11753574" y="6293107"/>
            <a:ext cx="697083" cy="956411"/>
          </a:xfrm>
          <a:custGeom>
            <a:avLst/>
            <a:gdLst/>
            <a:ahLst/>
            <a:cxnLst/>
            <a:rect r="r" b="b" t="t" l="l"/>
            <a:pathLst>
              <a:path h="956411" w="697083">
                <a:moveTo>
                  <a:pt x="697083" y="0"/>
                </a:moveTo>
                <a:lnTo>
                  <a:pt x="697083" y="430581"/>
                </a:lnTo>
                <a:cubicBezTo>
                  <a:pt x="697083" y="456883"/>
                  <a:pt x="675760" y="478206"/>
                  <a:pt x="649458" y="478206"/>
                </a:cubicBezTo>
                <a:lnTo>
                  <a:pt x="47625" y="478206"/>
                </a:lnTo>
                <a:cubicBezTo>
                  <a:pt x="34994" y="478206"/>
                  <a:pt x="22881" y="483224"/>
                  <a:pt x="13949" y="492155"/>
                </a:cubicBezTo>
                <a:cubicBezTo>
                  <a:pt x="5018" y="501087"/>
                  <a:pt x="0" y="513200"/>
                  <a:pt x="0" y="525831"/>
                </a:cubicBezTo>
                <a:lnTo>
                  <a:pt x="0" y="956412"/>
                </a:lnTo>
              </a:path>
            </a:pathLst>
          </a:cu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5" id="45"/>
          <p:cNvSpPr/>
          <p:nvPr/>
        </p:nvSpPr>
        <p:spPr>
          <a:xfrm>
            <a:off x="14963287" y="6293107"/>
            <a:ext cx="1151627" cy="980299"/>
          </a:xfrm>
          <a:custGeom>
            <a:avLst/>
            <a:gdLst/>
            <a:ahLst/>
            <a:cxnLst/>
            <a:rect r="r" b="b" t="t" l="l"/>
            <a:pathLst>
              <a:path h="980299" w="1151627">
                <a:moveTo>
                  <a:pt x="1151627" y="0"/>
                </a:moveTo>
                <a:lnTo>
                  <a:pt x="623439" y="0"/>
                </a:lnTo>
                <a:cubicBezTo>
                  <a:pt x="597137" y="0"/>
                  <a:pt x="575814" y="21323"/>
                  <a:pt x="575814" y="47625"/>
                </a:cubicBezTo>
                <a:lnTo>
                  <a:pt x="575814" y="932674"/>
                </a:lnTo>
                <a:cubicBezTo>
                  <a:pt x="575814" y="945305"/>
                  <a:pt x="570797" y="957419"/>
                  <a:pt x="561865" y="966351"/>
                </a:cubicBezTo>
                <a:cubicBezTo>
                  <a:pt x="552933" y="975282"/>
                  <a:pt x="540821" y="980299"/>
                  <a:pt x="528189" y="980299"/>
                </a:cubicBezTo>
                <a:lnTo>
                  <a:pt x="0" y="980299"/>
                </a:lnTo>
              </a:path>
            </a:pathLst>
          </a:cu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6" id="46"/>
          <p:cNvSpPr/>
          <p:nvPr/>
        </p:nvSpPr>
        <p:spPr>
          <a:xfrm>
            <a:off x="12450657" y="6293107"/>
            <a:ext cx="684792" cy="973574"/>
          </a:xfrm>
          <a:custGeom>
            <a:avLst/>
            <a:gdLst/>
            <a:ahLst/>
            <a:cxnLst/>
            <a:rect r="r" b="b" t="t" l="l"/>
            <a:pathLst>
              <a:path h="973574" w="684792">
                <a:moveTo>
                  <a:pt x="0" y="0"/>
                </a:moveTo>
                <a:lnTo>
                  <a:pt x="0" y="439163"/>
                </a:lnTo>
                <a:cubicBezTo>
                  <a:pt x="0" y="451794"/>
                  <a:pt x="5018" y="463907"/>
                  <a:pt x="13949" y="472839"/>
                </a:cubicBezTo>
                <a:cubicBezTo>
                  <a:pt x="22881" y="481770"/>
                  <a:pt x="34994" y="486788"/>
                  <a:pt x="47625" y="486788"/>
                </a:cubicBezTo>
                <a:lnTo>
                  <a:pt x="637167" y="486788"/>
                </a:lnTo>
                <a:cubicBezTo>
                  <a:pt x="649798" y="486788"/>
                  <a:pt x="661912" y="491805"/>
                  <a:pt x="670843" y="500736"/>
                </a:cubicBezTo>
                <a:cubicBezTo>
                  <a:pt x="679774" y="509668"/>
                  <a:pt x="684792" y="521782"/>
                  <a:pt x="684792" y="534413"/>
                </a:cubicBezTo>
                <a:lnTo>
                  <a:pt x="684792" y="973574"/>
                </a:lnTo>
              </a:path>
            </a:pathLst>
          </a:cu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7" id="47"/>
          <p:cNvSpPr/>
          <p:nvPr/>
        </p:nvSpPr>
        <p:spPr>
          <a:xfrm>
            <a:off x="16110657" y="6293107"/>
            <a:ext cx="4257" cy="980299"/>
          </a:xfrm>
          <a:custGeom>
            <a:avLst/>
            <a:gdLst/>
            <a:ahLst/>
            <a:cxnLst/>
            <a:rect r="r" b="b" t="t" l="l"/>
            <a:pathLst>
              <a:path h="980299" w="4257">
                <a:moveTo>
                  <a:pt x="4257" y="0"/>
                </a:moveTo>
                <a:lnTo>
                  <a:pt x="4257" y="488021"/>
                </a:lnTo>
                <a:cubicBezTo>
                  <a:pt x="4257" y="488585"/>
                  <a:pt x="4032" y="489127"/>
                  <a:pt x="3634" y="489526"/>
                </a:cubicBezTo>
                <a:cubicBezTo>
                  <a:pt x="3234" y="489925"/>
                  <a:pt x="2693" y="490150"/>
                  <a:pt x="2128" y="490150"/>
                </a:cubicBezTo>
                <a:lnTo>
                  <a:pt x="2128" y="490150"/>
                </a:lnTo>
                <a:cubicBezTo>
                  <a:pt x="1564" y="490150"/>
                  <a:pt x="1023" y="490374"/>
                  <a:pt x="623" y="490773"/>
                </a:cubicBezTo>
                <a:cubicBezTo>
                  <a:pt x="225" y="491172"/>
                  <a:pt x="0" y="491714"/>
                  <a:pt x="0" y="492278"/>
                </a:cubicBezTo>
                <a:lnTo>
                  <a:pt x="0" y="980299"/>
                </a:lnTo>
              </a:path>
            </a:pathLst>
          </a:cu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8" id="48"/>
          <p:cNvSpPr/>
          <p:nvPr/>
        </p:nvSpPr>
        <p:spPr>
          <a:xfrm>
            <a:off x="16114914" y="6293107"/>
            <a:ext cx="1183703" cy="980299"/>
          </a:xfrm>
          <a:custGeom>
            <a:avLst/>
            <a:gdLst/>
            <a:ahLst/>
            <a:cxnLst/>
            <a:rect r="r" b="b" t="t" l="l"/>
            <a:pathLst>
              <a:path h="980299" w="1183703">
                <a:moveTo>
                  <a:pt x="0" y="0"/>
                </a:moveTo>
                <a:lnTo>
                  <a:pt x="544227" y="0"/>
                </a:lnTo>
                <a:cubicBezTo>
                  <a:pt x="570530" y="0"/>
                  <a:pt x="591852" y="21323"/>
                  <a:pt x="591852" y="47625"/>
                </a:cubicBezTo>
                <a:lnTo>
                  <a:pt x="591852" y="932674"/>
                </a:lnTo>
                <a:cubicBezTo>
                  <a:pt x="591852" y="958977"/>
                  <a:pt x="613175" y="980299"/>
                  <a:pt x="639477" y="980299"/>
                </a:cubicBezTo>
                <a:lnTo>
                  <a:pt x="1183703" y="980299"/>
                </a:lnTo>
              </a:path>
            </a:pathLst>
          </a:cu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9" id="49"/>
          <p:cNvSpPr/>
          <p:nvPr/>
        </p:nvSpPr>
        <p:spPr>
          <a:xfrm flipH="false" flipV="false" rot="0">
            <a:off x="321207" y="2675762"/>
            <a:ext cx="17645586" cy="7234690"/>
          </a:xfrm>
          <a:custGeom>
            <a:avLst/>
            <a:gdLst/>
            <a:ahLst/>
            <a:cxnLst/>
            <a:rect r="r" b="b" t="t" l="l"/>
            <a:pathLst>
              <a:path h="7234690" w="17645586">
                <a:moveTo>
                  <a:pt x="0" y="0"/>
                </a:moveTo>
                <a:lnTo>
                  <a:pt x="17645586" y="0"/>
                </a:lnTo>
                <a:lnTo>
                  <a:pt x="17645586" y="7234690"/>
                </a:lnTo>
                <a:lnTo>
                  <a:pt x="0" y="72346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0" id="50"/>
          <p:cNvSpPr txBox="true"/>
          <p:nvPr/>
        </p:nvSpPr>
        <p:spPr>
          <a:xfrm rot="0">
            <a:off x="2209636" y="5828051"/>
            <a:ext cx="1145016" cy="241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2"/>
              </a:lnSpc>
              <a:spcBef>
                <a:spcPct val="0"/>
              </a:spcBef>
            </a:pPr>
            <a:r>
              <a:rPr lang="en-US" b="true" sz="708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1.1 Fase 1: Definición del Proyecto APT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7287336" y="3393243"/>
            <a:ext cx="3834075" cy="182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5"/>
              </a:lnSpc>
            </a:pPr>
            <a:r>
              <a:rPr lang="en-US" b="true" sz="1017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EDT - Estructura de Desglose de Trabajo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7721877" y="5877170"/>
            <a:ext cx="779433" cy="239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2"/>
              </a:lnSpc>
              <a:spcBef>
                <a:spcPct val="0"/>
              </a:spcBef>
            </a:pPr>
            <a:r>
              <a:rPr lang="en-US" b="true" sz="708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1.2 Fase 2: Desarrollo 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7287336" y="3633175"/>
            <a:ext cx="3834075" cy="362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5"/>
              </a:lnSpc>
            </a:pPr>
            <a:r>
              <a:rPr lang="en-US" b="true" sz="1017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Proyecto Aprueba Administración - Módulo Pasarela de Pago y Suscripción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8126927" y="4366283"/>
            <a:ext cx="1940275" cy="256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7"/>
              </a:lnSpc>
              <a:spcBef>
                <a:spcPct val="0"/>
              </a:spcBef>
            </a:pPr>
            <a:r>
              <a:rPr lang="en-US" b="true" sz="755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1. Aprueba Administración Módulo de Pasarela de Pago y Suscripción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5595521" y="5917455"/>
            <a:ext cx="1045319" cy="115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2"/>
              </a:lnSpc>
              <a:spcBef>
                <a:spcPct val="0"/>
              </a:spcBef>
            </a:pPr>
            <a:r>
              <a:rPr lang="en-US" b="true" sz="708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1.4 Gestión Transversal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5608292" y="6057377"/>
            <a:ext cx="1045319" cy="115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2"/>
              </a:lnSpc>
              <a:spcBef>
                <a:spcPct val="0"/>
              </a:spcBef>
            </a:pPr>
            <a:r>
              <a:rPr lang="en-US" b="true" sz="708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(S1-S18)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1956139" y="5864507"/>
            <a:ext cx="1016766" cy="239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2"/>
              </a:lnSpc>
              <a:spcBef>
                <a:spcPct val="0"/>
              </a:spcBef>
            </a:pPr>
            <a:r>
              <a:rPr lang="en-US" b="true" sz="708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1.3 Fase 3: Cierre de Proyecto 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2189854" y="6111100"/>
            <a:ext cx="1145016" cy="116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2"/>
              </a:lnSpc>
              <a:spcBef>
                <a:spcPct val="0"/>
              </a:spcBef>
            </a:pPr>
            <a:r>
              <a:rPr lang="en-US" b="true" sz="708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(S1-S4)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7721877" y="6110326"/>
            <a:ext cx="779433" cy="115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2"/>
              </a:lnSpc>
              <a:spcBef>
                <a:spcPct val="0"/>
              </a:spcBef>
            </a:pPr>
            <a:r>
              <a:rPr lang="en-US" b="true" sz="708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(S5-S15 )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1956139" y="6111711"/>
            <a:ext cx="1016766" cy="115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2"/>
              </a:lnSpc>
              <a:spcBef>
                <a:spcPct val="0"/>
              </a:spcBef>
            </a:pPr>
            <a:r>
              <a:rPr lang="en-US" b="true" sz="708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(S16-S18)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634122" y="7212317"/>
            <a:ext cx="829221" cy="44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8"/>
              </a:lnSpc>
            </a:pPr>
            <a:r>
              <a:rPr lang="en-US" b="true" sz="513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1.1.1 </a:t>
            </a:r>
          </a:p>
          <a:p>
            <a:pPr algn="ctr">
              <a:lnSpc>
                <a:spcPts val="718"/>
              </a:lnSpc>
              <a:spcBef>
                <a:spcPct val="0"/>
              </a:spcBef>
            </a:pPr>
            <a:r>
              <a:rPr lang="en-US" b="true" sz="513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Levantamiento de requerimientos y análisis de la plataforma existente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708127" y="7269747"/>
            <a:ext cx="981736" cy="208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1"/>
              </a:lnSpc>
            </a:pPr>
            <a:r>
              <a:rPr lang="en-US" b="true" sz="607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1.1.2 </a:t>
            </a:r>
          </a:p>
          <a:p>
            <a:pPr algn="ctr">
              <a:lnSpc>
                <a:spcPts val="851"/>
              </a:lnSpc>
              <a:spcBef>
                <a:spcPct val="0"/>
              </a:spcBef>
            </a:pPr>
            <a:r>
              <a:rPr lang="en-US" b="true" sz="607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Diseño de la solución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5874545" y="7271730"/>
            <a:ext cx="981736" cy="315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1"/>
              </a:lnSpc>
            </a:pPr>
            <a:r>
              <a:rPr lang="en-US" b="true" sz="607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1.2.1</a:t>
            </a:r>
          </a:p>
          <a:p>
            <a:pPr algn="ctr">
              <a:lnSpc>
                <a:spcPts val="851"/>
              </a:lnSpc>
              <a:spcBef>
                <a:spcPct val="0"/>
              </a:spcBef>
            </a:pPr>
            <a:r>
              <a:rPr lang="en-US" b="true" sz="607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Incremento 2: Gestión de planes y Suscripciones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8130220" y="7292307"/>
            <a:ext cx="981736" cy="423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1"/>
              </a:lnSpc>
            </a:pPr>
            <a:r>
              <a:rPr lang="en-US" b="true" sz="607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1.2,3</a:t>
            </a:r>
          </a:p>
          <a:p>
            <a:pPr algn="ctr">
              <a:lnSpc>
                <a:spcPts val="851"/>
              </a:lnSpc>
              <a:spcBef>
                <a:spcPct val="0"/>
              </a:spcBef>
            </a:pPr>
            <a:r>
              <a:rPr lang="en-US" b="true" sz="607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Incremento 4: Integración de pasarela de pago con Stripe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7002781" y="7308209"/>
            <a:ext cx="981736" cy="315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1"/>
              </a:lnSpc>
            </a:pPr>
            <a:r>
              <a:rPr lang="en-US" b="true" sz="607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1.2.2</a:t>
            </a:r>
          </a:p>
          <a:p>
            <a:pPr algn="ctr">
              <a:lnSpc>
                <a:spcPts val="851"/>
              </a:lnSpc>
              <a:spcBef>
                <a:spcPct val="0"/>
              </a:spcBef>
            </a:pPr>
            <a:r>
              <a:rPr lang="en-US" b="true" sz="607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Incremento 3: Checkout y Suscripción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9271028" y="7308209"/>
            <a:ext cx="941064" cy="315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1"/>
              </a:lnSpc>
            </a:pPr>
            <a:r>
              <a:rPr lang="en-US" b="true" sz="607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1.2.4</a:t>
            </a:r>
          </a:p>
          <a:p>
            <a:pPr algn="ctr">
              <a:lnSpc>
                <a:spcPts val="851"/>
              </a:lnSpc>
              <a:spcBef>
                <a:spcPct val="0"/>
              </a:spcBef>
            </a:pPr>
            <a:r>
              <a:rPr lang="en-US" b="true" sz="607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Incremento 5: Pruebas integrales y Cierre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1264340" y="7322060"/>
            <a:ext cx="941064" cy="315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1"/>
              </a:lnSpc>
            </a:pPr>
            <a:r>
              <a:rPr lang="en-US" b="true" sz="607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1.3.1</a:t>
            </a:r>
          </a:p>
          <a:p>
            <a:pPr algn="ctr">
              <a:lnSpc>
                <a:spcPts val="851"/>
              </a:lnSpc>
              <a:spcBef>
                <a:spcPct val="0"/>
              </a:spcBef>
            </a:pPr>
            <a:r>
              <a:rPr lang="en-US" b="true" sz="607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Elaboración de informe y documentación final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2646215" y="7339223"/>
            <a:ext cx="941064" cy="315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1"/>
              </a:lnSpc>
            </a:pPr>
            <a:r>
              <a:rPr lang="en-US" b="true" sz="607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1.3.2</a:t>
            </a:r>
          </a:p>
          <a:p>
            <a:pPr algn="ctr">
              <a:lnSpc>
                <a:spcPts val="851"/>
              </a:lnSpc>
              <a:spcBef>
                <a:spcPct val="0"/>
              </a:spcBef>
            </a:pPr>
            <a:r>
              <a:rPr lang="en-US" b="true" sz="607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Presentación de Proyecto final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4492754" y="7317319"/>
            <a:ext cx="941064" cy="423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1"/>
              </a:lnSpc>
            </a:pPr>
            <a:r>
              <a:rPr lang="en-US" b="true" sz="607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1.4.1</a:t>
            </a:r>
          </a:p>
          <a:p>
            <a:pPr algn="ctr">
              <a:lnSpc>
                <a:spcPts val="851"/>
              </a:lnSpc>
              <a:spcBef>
                <a:spcPct val="0"/>
              </a:spcBef>
            </a:pPr>
            <a:r>
              <a:rPr lang="en-US" b="true" sz="607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Actas de reunión y control de avance semanal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5640124" y="7292307"/>
            <a:ext cx="941064" cy="423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1"/>
              </a:lnSpc>
            </a:pPr>
            <a:r>
              <a:rPr lang="en-US" b="true" sz="607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1.4.2</a:t>
            </a:r>
          </a:p>
          <a:p>
            <a:pPr algn="ctr">
              <a:lnSpc>
                <a:spcPts val="851"/>
              </a:lnSpc>
              <a:spcBef>
                <a:spcPct val="0"/>
              </a:spcBef>
            </a:pPr>
            <a:r>
              <a:rPr lang="en-US" b="true" sz="607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Reuniones de seguimiento con docente guía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6809384" y="7345948"/>
            <a:ext cx="941064" cy="315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1"/>
              </a:lnSpc>
            </a:pPr>
            <a:r>
              <a:rPr lang="en-US" b="true" sz="607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1.4.3</a:t>
            </a:r>
          </a:p>
          <a:p>
            <a:pPr algn="ctr">
              <a:lnSpc>
                <a:spcPts val="851"/>
              </a:lnSpc>
              <a:spcBef>
                <a:spcPct val="0"/>
              </a:spcBef>
            </a:pPr>
            <a:r>
              <a:rPr lang="en-US" b="true" sz="607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Gestion de riesgos y control de cambios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754380"/>
            <a:ext cx="1234440" cy="1234440"/>
            <a:chOff x="0" y="0"/>
            <a:chExt cx="164592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0F172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71093" y="902513"/>
            <a:ext cx="938174" cy="938174"/>
            <a:chOff x="0" y="0"/>
            <a:chExt cx="1250899" cy="1250899"/>
          </a:xfrm>
        </p:grpSpPr>
        <p:sp>
          <p:nvSpPr>
            <p:cNvPr name="Freeform 5" id="5" descr="/home/claude/deck_assets/plan.png"/>
            <p:cNvSpPr/>
            <p:nvPr/>
          </p:nvSpPr>
          <p:spPr>
            <a:xfrm flipH="false" flipV="false" rot="0">
              <a:off x="0" y="0"/>
              <a:ext cx="1250950" cy="1250950"/>
            </a:xfrm>
            <a:custGeom>
              <a:avLst/>
              <a:gdLst/>
              <a:ahLst/>
              <a:cxnLst/>
              <a:rect r="r" b="b" t="t" l="l"/>
              <a:pathLst>
                <a:path h="1250950" w="1250950">
                  <a:moveTo>
                    <a:pt x="0" y="0"/>
                  </a:moveTo>
                  <a:lnTo>
                    <a:pt x="1250950" y="0"/>
                  </a:lnTo>
                  <a:lnTo>
                    <a:pt x="1250950" y="1250950"/>
                  </a:lnTo>
                  <a:lnTo>
                    <a:pt x="0" y="1250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4" b="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331720" y="685800"/>
            <a:ext cx="14401800" cy="411480"/>
            <a:chOff x="0" y="0"/>
            <a:chExt cx="1920240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202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976" r="0" b="-63197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9202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AD7A0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ORGANIZACIÓN · HITOS CLAROS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331720" y="1069848"/>
            <a:ext cx="15087600" cy="1028700"/>
            <a:chOff x="0" y="0"/>
            <a:chExt cx="20116800" cy="1371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1168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780" r="0" b="-23578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011680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F17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Plan de trabajo y cronograma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48393" y="2585935"/>
            <a:ext cx="17237484" cy="7067368"/>
          </a:xfrm>
          <a:custGeom>
            <a:avLst/>
            <a:gdLst/>
            <a:ahLst/>
            <a:cxnLst/>
            <a:rect r="r" b="b" t="t" l="l"/>
            <a:pathLst>
              <a:path h="7067368" w="17237484">
                <a:moveTo>
                  <a:pt x="0" y="0"/>
                </a:moveTo>
                <a:lnTo>
                  <a:pt x="17237483" y="0"/>
                </a:lnTo>
                <a:lnTo>
                  <a:pt x="17237483" y="7067368"/>
                </a:lnTo>
                <a:lnTo>
                  <a:pt x="0" y="70673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51834" y="2766986"/>
            <a:ext cx="16230600" cy="6705267"/>
          </a:xfrm>
          <a:custGeom>
            <a:avLst/>
            <a:gdLst/>
            <a:ahLst/>
            <a:cxnLst/>
            <a:rect r="r" b="b" t="t" l="l"/>
            <a:pathLst>
              <a:path h="6705267" w="16230600">
                <a:moveTo>
                  <a:pt x="0" y="0"/>
                </a:moveTo>
                <a:lnTo>
                  <a:pt x="16230600" y="0"/>
                </a:lnTo>
                <a:lnTo>
                  <a:pt x="16230600" y="6705267"/>
                </a:lnTo>
                <a:lnTo>
                  <a:pt x="0" y="67052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754380"/>
            <a:ext cx="1234440" cy="1234440"/>
            <a:chOff x="0" y="0"/>
            <a:chExt cx="164592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0F172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71093" y="902513"/>
            <a:ext cx="938174" cy="938174"/>
            <a:chOff x="0" y="0"/>
            <a:chExt cx="1250899" cy="1250899"/>
          </a:xfrm>
        </p:grpSpPr>
        <p:sp>
          <p:nvSpPr>
            <p:cNvPr name="Freeform 5" id="5" descr="/home/claude/deck_assets/evidencias.png"/>
            <p:cNvSpPr/>
            <p:nvPr/>
          </p:nvSpPr>
          <p:spPr>
            <a:xfrm flipH="false" flipV="false" rot="0">
              <a:off x="0" y="0"/>
              <a:ext cx="1250950" cy="1250950"/>
            </a:xfrm>
            <a:custGeom>
              <a:avLst/>
              <a:gdLst/>
              <a:ahLst/>
              <a:cxnLst/>
              <a:rect r="r" b="b" t="t" l="l"/>
              <a:pathLst>
                <a:path h="1250950" w="1250950">
                  <a:moveTo>
                    <a:pt x="0" y="0"/>
                  </a:moveTo>
                  <a:lnTo>
                    <a:pt x="1250950" y="0"/>
                  </a:lnTo>
                  <a:lnTo>
                    <a:pt x="1250950" y="1250950"/>
                  </a:lnTo>
                  <a:lnTo>
                    <a:pt x="0" y="1250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4" b="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331720" y="685800"/>
            <a:ext cx="14401800" cy="411480"/>
            <a:chOff x="0" y="0"/>
            <a:chExt cx="1920240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202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976" r="0" b="-63197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9202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AD7A0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QUÉ SE ENTREGA Y POR QUÉ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331720" y="1069848"/>
            <a:ext cx="15087600" cy="1028700"/>
            <a:chOff x="0" y="0"/>
            <a:chExt cx="20116800" cy="1371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1168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780" r="0" b="-23578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011680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F17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Evidencias del proyecto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60120" y="2606040"/>
            <a:ext cx="10972800" cy="480060"/>
            <a:chOff x="0" y="0"/>
            <a:chExt cx="14630400" cy="6400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14630400" cy="6305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49">
                  <a:solidFill>
                    <a:srgbClr val="5B6B85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EVIDENCIAS DE AVANCE (FASE 1)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50595" y="3213735"/>
            <a:ext cx="4133850" cy="773430"/>
            <a:chOff x="0" y="0"/>
            <a:chExt cx="5511800" cy="10312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511800" cy="1031240"/>
            </a:xfrm>
            <a:custGeom>
              <a:avLst/>
              <a:gdLst/>
              <a:ahLst/>
              <a:cxnLst/>
              <a:rect r="r" b="b" t="t" l="l"/>
              <a:pathLst>
                <a:path h="1031240" w="5511800">
                  <a:moveTo>
                    <a:pt x="0" y="515620"/>
                  </a:moveTo>
                  <a:cubicBezTo>
                    <a:pt x="0" y="230886"/>
                    <a:pt x="230886" y="0"/>
                    <a:pt x="515620" y="0"/>
                  </a:cubicBezTo>
                  <a:lnTo>
                    <a:pt x="4996180" y="0"/>
                  </a:lnTo>
                  <a:cubicBezTo>
                    <a:pt x="5280914" y="0"/>
                    <a:pt x="5511800" y="230886"/>
                    <a:pt x="5511800" y="515620"/>
                  </a:cubicBezTo>
                  <a:cubicBezTo>
                    <a:pt x="5511800" y="800354"/>
                    <a:pt x="5280914" y="1031240"/>
                    <a:pt x="4996180" y="1031240"/>
                  </a:cubicBezTo>
                  <a:lnTo>
                    <a:pt x="515620" y="1031240"/>
                  </a:lnTo>
                  <a:cubicBezTo>
                    <a:pt x="230886" y="1031240"/>
                    <a:pt x="0" y="800354"/>
                    <a:pt x="0" y="515620"/>
                  </a:cubicBezTo>
                  <a:close/>
                </a:path>
              </a:pathLst>
            </a:custGeom>
            <a:solidFill>
              <a:srgbClr val="F2F5FA"/>
            </a:solidFill>
            <a:ln w="19050" cap="sq">
              <a:solidFill>
                <a:srgbClr val="D7DEEC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60120" y="3223260"/>
            <a:ext cx="4114800" cy="754380"/>
            <a:chOff x="0" y="0"/>
            <a:chExt cx="5486400" cy="10058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4864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282" r="0" b="-5628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548640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0F1729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Requerimientos IEEE 830 / HU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312283" y="3213735"/>
            <a:ext cx="3996690" cy="773430"/>
            <a:chOff x="0" y="0"/>
            <a:chExt cx="5328920" cy="10312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328920" cy="1031240"/>
            </a:xfrm>
            <a:custGeom>
              <a:avLst/>
              <a:gdLst/>
              <a:ahLst/>
              <a:cxnLst/>
              <a:rect r="r" b="b" t="t" l="l"/>
              <a:pathLst>
                <a:path h="1031240" w="5328920">
                  <a:moveTo>
                    <a:pt x="0" y="515620"/>
                  </a:moveTo>
                  <a:cubicBezTo>
                    <a:pt x="0" y="230886"/>
                    <a:pt x="230886" y="0"/>
                    <a:pt x="515620" y="0"/>
                  </a:cubicBezTo>
                  <a:lnTo>
                    <a:pt x="4813300" y="0"/>
                  </a:lnTo>
                  <a:cubicBezTo>
                    <a:pt x="5098034" y="0"/>
                    <a:pt x="5328920" y="230886"/>
                    <a:pt x="5328920" y="515620"/>
                  </a:cubicBezTo>
                  <a:cubicBezTo>
                    <a:pt x="5328920" y="800354"/>
                    <a:pt x="5098034" y="1031240"/>
                    <a:pt x="4813300" y="1031240"/>
                  </a:cubicBezTo>
                  <a:lnTo>
                    <a:pt x="515620" y="1031240"/>
                  </a:lnTo>
                  <a:cubicBezTo>
                    <a:pt x="230886" y="1031240"/>
                    <a:pt x="0" y="800354"/>
                    <a:pt x="0" y="515620"/>
                  </a:cubicBezTo>
                  <a:close/>
                </a:path>
              </a:pathLst>
            </a:custGeom>
            <a:solidFill>
              <a:srgbClr val="F2F5FA"/>
            </a:solidFill>
            <a:ln w="19050" cap="sq">
              <a:solidFill>
                <a:srgbClr val="D7DEEC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5321808" y="3223260"/>
            <a:ext cx="3977640" cy="754380"/>
            <a:chOff x="0" y="0"/>
            <a:chExt cx="5303520" cy="10058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3035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739" r="0" b="-5273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530352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0F1729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Diagrama de casos de uso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536811" y="3213735"/>
            <a:ext cx="3585210" cy="773430"/>
            <a:chOff x="0" y="0"/>
            <a:chExt cx="4780280" cy="10312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780280" cy="1031240"/>
            </a:xfrm>
            <a:custGeom>
              <a:avLst/>
              <a:gdLst/>
              <a:ahLst/>
              <a:cxnLst/>
              <a:rect r="r" b="b" t="t" l="l"/>
              <a:pathLst>
                <a:path h="1031240" w="4780280">
                  <a:moveTo>
                    <a:pt x="0" y="515620"/>
                  </a:moveTo>
                  <a:cubicBezTo>
                    <a:pt x="0" y="230886"/>
                    <a:pt x="230886" y="0"/>
                    <a:pt x="515620" y="0"/>
                  </a:cubicBezTo>
                  <a:lnTo>
                    <a:pt x="4264660" y="0"/>
                  </a:lnTo>
                  <a:cubicBezTo>
                    <a:pt x="4549394" y="0"/>
                    <a:pt x="4780280" y="230886"/>
                    <a:pt x="4780280" y="515620"/>
                  </a:cubicBezTo>
                  <a:cubicBezTo>
                    <a:pt x="4780280" y="800354"/>
                    <a:pt x="4549394" y="1031240"/>
                    <a:pt x="4264660" y="1031240"/>
                  </a:cubicBezTo>
                  <a:lnTo>
                    <a:pt x="515620" y="1031240"/>
                  </a:lnTo>
                  <a:cubicBezTo>
                    <a:pt x="230886" y="1031240"/>
                    <a:pt x="0" y="800354"/>
                    <a:pt x="0" y="515620"/>
                  </a:cubicBezTo>
                  <a:close/>
                </a:path>
              </a:pathLst>
            </a:custGeom>
            <a:solidFill>
              <a:srgbClr val="F2F5FA"/>
            </a:solidFill>
            <a:ln w="19050" cap="sq">
              <a:solidFill>
                <a:srgbClr val="D7DEEC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9546336" y="3223260"/>
            <a:ext cx="3566160" cy="754380"/>
            <a:chOff x="0" y="0"/>
            <a:chExt cx="4754880" cy="10058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7548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111" r="0" b="-4211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475488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0F1729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Diagrama de actividad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50595" y="4242435"/>
            <a:ext cx="4133850" cy="773430"/>
            <a:chOff x="0" y="0"/>
            <a:chExt cx="5511800" cy="10312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511800" cy="1031240"/>
            </a:xfrm>
            <a:custGeom>
              <a:avLst/>
              <a:gdLst/>
              <a:ahLst/>
              <a:cxnLst/>
              <a:rect r="r" b="b" t="t" l="l"/>
              <a:pathLst>
                <a:path h="1031240" w="5511800">
                  <a:moveTo>
                    <a:pt x="0" y="515620"/>
                  </a:moveTo>
                  <a:cubicBezTo>
                    <a:pt x="0" y="230886"/>
                    <a:pt x="230886" y="0"/>
                    <a:pt x="515620" y="0"/>
                  </a:cubicBezTo>
                  <a:lnTo>
                    <a:pt x="4996180" y="0"/>
                  </a:lnTo>
                  <a:cubicBezTo>
                    <a:pt x="5280914" y="0"/>
                    <a:pt x="5511800" y="230886"/>
                    <a:pt x="5511800" y="515620"/>
                  </a:cubicBezTo>
                  <a:cubicBezTo>
                    <a:pt x="5511800" y="800354"/>
                    <a:pt x="5280914" y="1031240"/>
                    <a:pt x="4996180" y="1031240"/>
                  </a:cubicBezTo>
                  <a:lnTo>
                    <a:pt x="515620" y="1031240"/>
                  </a:lnTo>
                  <a:cubicBezTo>
                    <a:pt x="230886" y="1031240"/>
                    <a:pt x="0" y="800354"/>
                    <a:pt x="0" y="515620"/>
                  </a:cubicBezTo>
                  <a:close/>
                </a:path>
              </a:pathLst>
            </a:custGeom>
            <a:solidFill>
              <a:srgbClr val="F2F5FA"/>
            </a:solidFill>
            <a:ln w="19050" cap="sq">
              <a:solidFill>
                <a:srgbClr val="D7DEEC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960120" y="4251960"/>
            <a:ext cx="4114800" cy="754380"/>
            <a:chOff x="0" y="0"/>
            <a:chExt cx="5486400" cy="10058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4864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282" r="0" b="-5628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548640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0F1729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Documentación de stakeholders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312283" y="4242435"/>
            <a:ext cx="3173730" cy="773430"/>
            <a:chOff x="0" y="0"/>
            <a:chExt cx="4231640" cy="10312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231640" cy="1031240"/>
            </a:xfrm>
            <a:custGeom>
              <a:avLst/>
              <a:gdLst/>
              <a:ahLst/>
              <a:cxnLst/>
              <a:rect r="r" b="b" t="t" l="l"/>
              <a:pathLst>
                <a:path h="1031240" w="4231640">
                  <a:moveTo>
                    <a:pt x="0" y="515620"/>
                  </a:moveTo>
                  <a:cubicBezTo>
                    <a:pt x="0" y="230886"/>
                    <a:pt x="230886" y="0"/>
                    <a:pt x="515620" y="0"/>
                  </a:cubicBezTo>
                  <a:lnTo>
                    <a:pt x="3716020" y="0"/>
                  </a:lnTo>
                  <a:cubicBezTo>
                    <a:pt x="4000754" y="0"/>
                    <a:pt x="4231640" y="230886"/>
                    <a:pt x="4231640" y="515620"/>
                  </a:cubicBezTo>
                  <a:cubicBezTo>
                    <a:pt x="4231640" y="800354"/>
                    <a:pt x="4000754" y="1031240"/>
                    <a:pt x="3716020" y="1031240"/>
                  </a:cubicBezTo>
                  <a:lnTo>
                    <a:pt x="515620" y="1031240"/>
                  </a:lnTo>
                  <a:cubicBezTo>
                    <a:pt x="230886" y="1031240"/>
                    <a:pt x="0" y="800354"/>
                    <a:pt x="0" y="515620"/>
                  </a:cubicBezTo>
                  <a:close/>
                </a:path>
              </a:pathLst>
            </a:custGeom>
            <a:solidFill>
              <a:srgbClr val="F2F5FA"/>
            </a:solidFill>
            <a:ln w="19050" cap="sq">
              <a:solidFill>
                <a:srgbClr val="D7DEEC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5321808" y="4251960"/>
            <a:ext cx="3154680" cy="754380"/>
            <a:chOff x="0" y="0"/>
            <a:chExt cx="4206240" cy="10058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2062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82" r="0" b="-3148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420624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0F1729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Diagrama de clases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713851" y="4242435"/>
            <a:ext cx="3859530" cy="773430"/>
            <a:chOff x="0" y="0"/>
            <a:chExt cx="5146040" cy="10312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146040" cy="1031240"/>
            </a:xfrm>
            <a:custGeom>
              <a:avLst/>
              <a:gdLst/>
              <a:ahLst/>
              <a:cxnLst/>
              <a:rect r="r" b="b" t="t" l="l"/>
              <a:pathLst>
                <a:path h="1031240" w="5146040">
                  <a:moveTo>
                    <a:pt x="0" y="515620"/>
                  </a:moveTo>
                  <a:cubicBezTo>
                    <a:pt x="0" y="230886"/>
                    <a:pt x="230886" y="0"/>
                    <a:pt x="515620" y="0"/>
                  </a:cubicBezTo>
                  <a:lnTo>
                    <a:pt x="4630420" y="0"/>
                  </a:lnTo>
                  <a:cubicBezTo>
                    <a:pt x="4915154" y="0"/>
                    <a:pt x="5146040" y="230886"/>
                    <a:pt x="5146040" y="515620"/>
                  </a:cubicBezTo>
                  <a:cubicBezTo>
                    <a:pt x="5146040" y="800354"/>
                    <a:pt x="4915154" y="1031240"/>
                    <a:pt x="4630420" y="1031240"/>
                  </a:cubicBezTo>
                  <a:lnTo>
                    <a:pt x="515620" y="1031240"/>
                  </a:lnTo>
                  <a:cubicBezTo>
                    <a:pt x="230886" y="1031240"/>
                    <a:pt x="0" y="800354"/>
                    <a:pt x="0" y="515620"/>
                  </a:cubicBezTo>
                  <a:close/>
                </a:path>
              </a:pathLst>
            </a:custGeom>
            <a:solidFill>
              <a:srgbClr val="F2F5FA"/>
            </a:solidFill>
            <a:ln w="19050" cap="sq">
              <a:solidFill>
                <a:srgbClr val="D7DEEC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8723376" y="4251960"/>
            <a:ext cx="3840480" cy="754380"/>
            <a:chOff x="0" y="0"/>
            <a:chExt cx="5120640" cy="10058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206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196" r="0" b="-49196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512064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0F1729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Modelo de base de datos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801219" y="4242435"/>
            <a:ext cx="1664970" cy="773430"/>
            <a:chOff x="0" y="0"/>
            <a:chExt cx="2219960" cy="10312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219960" cy="1031240"/>
            </a:xfrm>
            <a:custGeom>
              <a:avLst/>
              <a:gdLst/>
              <a:ahLst/>
              <a:cxnLst/>
              <a:rect r="r" b="b" t="t" l="l"/>
              <a:pathLst>
                <a:path h="1031240" w="2219960">
                  <a:moveTo>
                    <a:pt x="0" y="515620"/>
                  </a:moveTo>
                  <a:cubicBezTo>
                    <a:pt x="0" y="230886"/>
                    <a:pt x="230886" y="0"/>
                    <a:pt x="515620" y="0"/>
                  </a:cubicBezTo>
                  <a:lnTo>
                    <a:pt x="1704340" y="0"/>
                  </a:lnTo>
                  <a:cubicBezTo>
                    <a:pt x="1989074" y="0"/>
                    <a:pt x="2219960" y="230886"/>
                    <a:pt x="2219960" y="515620"/>
                  </a:cubicBezTo>
                  <a:cubicBezTo>
                    <a:pt x="2219960" y="800354"/>
                    <a:pt x="1989074" y="1031240"/>
                    <a:pt x="1704340" y="1031240"/>
                  </a:cubicBezTo>
                  <a:lnTo>
                    <a:pt x="515620" y="1031240"/>
                  </a:lnTo>
                  <a:cubicBezTo>
                    <a:pt x="230886" y="1031240"/>
                    <a:pt x="0" y="800354"/>
                    <a:pt x="0" y="515620"/>
                  </a:cubicBezTo>
                  <a:close/>
                </a:path>
              </a:pathLst>
            </a:custGeom>
            <a:solidFill>
              <a:srgbClr val="F2F5FA"/>
            </a:solidFill>
            <a:ln w="19050" cap="sq">
              <a:solidFill>
                <a:srgbClr val="D7DEEC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2810744" y="4251960"/>
            <a:ext cx="1645920" cy="754380"/>
            <a:chOff x="0" y="0"/>
            <a:chExt cx="2194560" cy="10058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1945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805" t="0" r="-8805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219456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0F1729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Mockups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4309044" y="5341620"/>
            <a:ext cx="3448050" cy="773430"/>
            <a:chOff x="0" y="0"/>
            <a:chExt cx="4597400" cy="10312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597400" cy="1031240"/>
            </a:xfrm>
            <a:custGeom>
              <a:avLst/>
              <a:gdLst/>
              <a:ahLst/>
              <a:cxnLst/>
              <a:rect r="r" b="b" t="t" l="l"/>
              <a:pathLst>
                <a:path h="1031240" w="4597400">
                  <a:moveTo>
                    <a:pt x="0" y="515620"/>
                  </a:moveTo>
                  <a:cubicBezTo>
                    <a:pt x="0" y="230886"/>
                    <a:pt x="230886" y="0"/>
                    <a:pt x="515620" y="0"/>
                  </a:cubicBezTo>
                  <a:lnTo>
                    <a:pt x="4081780" y="0"/>
                  </a:lnTo>
                  <a:cubicBezTo>
                    <a:pt x="4366514" y="0"/>
                    <a:pt x="4597400" y="230886"/>
                    <a:pt x="4597400" y="515620"/>
                  </a:cubicBezTo>
                  <a:cubicBezTo>
                    <a:pt x="4597400" y="800354"/>
                    <a:pt x="4366514" y="1031240"/>
                    <a:pt x="4081780" y="1031240"/>
                  </a:cubicBezTo>
                  <a:lnTo>
                    <a:pt x="515620" y="1031240"/>
                  </a:lnTo>
                  <a:cubicBezTo>
                    <a:pt x="230886" y="1031240"/>
                    <a:pt x="0" y="800354"/>
                    <a:pt x="0" y="515620"/>
                  </a:cubicBezTo>
                  <a:close/>
                </a:path>
              </a:pathLst>
            </a:custGeom>
            <a:solidFill>
              <a:srgbClr val="F2F5FA"/>
            </a:solidFill>
            <a:ln w="19050" cap="sq">
              <a:solidFill>
                <a:srgbClr val="D7DEEC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4318569" y="5351145"/>
            <a:ext cx="3429000" cy="754380"/>
            <a:chOff x="0" y="0"/>
            <a:chExt cx="4572000" cy="10058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5720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568" r="0" b="-38568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457200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0F1729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Carta Gantt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038225" y="5332095"/>
            <a:ext cx="2899410" cy="773430"/>
            <a:chOff x="0" y="0"/>
            <a:chExt cx="3865880" cy="10312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865880" cy="1031240"/>
            </a:xfrm>
            <a:custGeom>
              <a:avLst/>
              <a:gdLst/>
              <a:ahLst/>
              <a:cxnLst/>
              <a:rect r="r" b="b" t="t" l="l"/>
              <a:pathLst>
                <a:path h="1031240" w="3865880">
                  <a:moveTo>
                    <a:pt x="0" y="515620"/>
                  </a:moveTo>
                  <a:cubicBezTo>
                    <a:pt x="0" y="230886"/>
                    <a:pt x="230886" y="0"/>
                    <a:pt x="515620" y="0"/>
                  </a:cubicBezTo>
                  <a:lnTo>
                    <a:pt x="3350260" y="0"/>
                  </a:lnTo>
                  <a:cubicBezTo>
                    <a:pt x="3634994" y="0"/>
                    <a:pt x="3865880" y="230886"/>
                    <a:pt x="3865880" y="515620"/>
                  </a:cubicBezTo>
                  <a:cubicBezTo>
                    <a:pt x="3865880" y="800354"/>
                    <a:pt x="3634994" y="1031240"/>
                    <a:pt x="3350260" y="1031240"/>
                  </a:cubicBezTo>
                  <a:lnTo>
                    <a:pt x="515620" y="1031240"/>
                  </a:lnTo>
                  <a:cubicBezTo>
                    <a:pt x="230886" y="1031240"/>
                    <a:pt x="0" y="800354"/>
                    <a:pt x="0" y="515620"/>
                  </a:cubicBezTo>
                  <a:close/>
                </a:path>
              </a:pathLst>
            </a:custGeom>
            <a:solidFill>
              <a:srgbClr val="F2F5FA"/>
            </a:solidFill>
            <a:ln w="19050" cap="sq">
              <a:solidFill>
                <a:srgbClr val="D7DEEC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1047750" y="5341620"/>
            <a:ext cx="2880360" cy="754380"/>
            <a:chOff x="0" y="0"/>
            <a:chExt cx="3840480" cy="10058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8404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397" r="0" b="-24397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384048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0F1729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Plan de proyecto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028700" y="6412230"/>
            <a:ext cx="2899410" cy="773430"/>
            <a:chOff x="0" y="0"/>
            <a:chExt cx="3865880" cy="10312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865880" cy="1031240"/>
            </a:xfrm>
            <a:custGeom>
              <a:avLst/>
              <a:gdLst/>
              <a:ahLst/>
              <a:cxnLst/>
              <a:rect r="r" b="b" t="t" l="l"/>
              <a:pathLst>
                <a:path h="1031240" w="3865880">
                  <a:moveTo>
                    <a:pt x="0" y="515620"/>
                  </a:moveTo>
                  <a:cubicBezTo>
                    <a:pt x="0" y="230886"/>
                    <a:pt x="230886" y="0"/>
                    <a:pt x="515620" y="0"/>
                  </a:cubicBezTo>
                  <a:lnTo>
                    <a:pt x="3350260" y="0"/>
                  </a:lnTo>
                  <a:cubicBezTo>
                    <a:pt x="3634994" y="0"/>
                    <a:pt x="3865880" y="230886"/>
                    <a:pt x="3865880" y="515620"/>
                  </a:cubicBezTo>
                  <a:cubicBezTo>
                    <a:pt x="3865880" y="800354"/>
                    <a:pt x="3634994" y="1031240"/>
                    <a:pt x="3350260" y="1031240"/>
                  </a:cubicBezTo>
                  <a:lnTo>
                    <a:pt x="515620" y="1031240"/>
                  </a:lnTo>
                  <a:cubicBezTo>
                    <a:pt x="230886" y="1031240"/>
                    <a:pt x="0" y="800354"/>
                    <a:pt x="0" y="515620"/>
                  </a:cubicBezTo>
                  <a:close/>
                </a:path>
              </a:pathLst>
            </a:custGeom>
            <a:solidFill>
              <a:srgbClr val="F2F5FA"/>
            </a:solidFill>
            <a:ln w="19050" cap="sq">
              <a:solidFill>
                <a:srgbClr val="D7DEEC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038225" y="6421755"/>
            <a:ext cx="2880360" cy="754380"/>
            <a:chOff x="0" y="0"/>
            <a:chExt cx="3840480" cy="10058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8404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397" r="0" b="-24397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384048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0F1729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Actas de reunión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4155948" y="6412230"/>
            <a:ext cx="3036570" cy="773430"/>
            <a:chOff x="0" y="0"/>
            <a:chExt cx="4048760" cy="10312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048760" cy="1031240"/>
            </a:xfrm>
            <a:custGeom>
              <a:avLst/>
              <a:gdLst/>
              <a:ahLst/>
              <a:cxnLst/>
              <a:rect r="r" b="b" t="t" l="l"/>
              <a:pathLst>
                <a:path h="1031240" w="4048760">
                  <a:moveTo>
                    <a:pt x="0" y="515620"/>
                  </a:moveTo>
                  <a:cubicBezTo>
                    <a:pt x="0" y="230886"/>
                    <a:pt x="230886" y="0"/>
                    <a:pt x="515620" y="0"/>
                  </a:cubicBezTo>
                  <a:lnTo>
                    <a:pt x="3533140" y="0"/>
                  </a:lnTo>
                  <a:cubicBezTo>
                    <a:pt x="3817874" y="0"/>
                    <a:pt x="4048760" y="230886"/>
                    <a:pt x="4048760" y="515620"/>
                  </a:cubicBezTo>
                  <a:cubicBezTo>
                    <a:pt x="4048760" y="800354"/>
                    <a:pt x="3817874" y="1031240"/>
                    <a:pt x="3533140" y="1031240"/>
                  </a:cubicBezTo>
                  <a:lnTo>
                    <a:pt x="515620" y="1031240"/>
                  </a:lnTo>
                  <a:cubicBezTo>
                    <a:pt x="230886" y="1031240"/>
                    <a:pt x="0" y="800354"/>
                    <a:pt x="0" y="515620"/>
                  </a:cubicBezTo>
                  <a:close/>
                </a:path>
              </a:pathLst>
            </a:custGeom>
            <a:solidFill>
              <a:srgbClr val="F2F5FA"/>
            </a:solidFill>
            <a:ln w="19050" cap="sq">
              <a:solidFill>
                <a:srgbClr val="D7DEEC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4165473" y="6421755"/>
            <a:ext cx="3017520" cy="754380"/>
            <a:chOff x="0" y="0"/>
            <a:chExt cx="4023360" cy="10058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0233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0"/>
              <a:ext cx="402336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0F1729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Estados de avance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7475795" y="6402705"/>
            <a:ext cx="3996690" cy="773430"/>
            <a:chOff x="0" y="0"/>
            <a:chExt cx="5328920" cy="10312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5328920" cy="1031240"/>
            </a:xfrm>
            <a:custGeom>
              <a:avLst/>
              <a:gdLst/>
              <a:ahLst/>
              <a:cxnLst/>
              <a:rect r="r" b="b" t="t" l="l"/>
              <a:pathLst>
                <a:path h="1031240" w="5328920">
                  <a:moveTo>
                    <a:pt x="0" y="515620"/>
                  </a:moveTo>
                  <a:cubicBezTo>
                    <a:pt x="0" y="230886"/>
                    <a:pt x="230886" y="0"/>
                    <a:pt x="515620" y="0"/>
                  </a:cubicBezTo>
                  <a:lnTo>
                    <a:pt x="4813300" y="0"/>
                  </a:lnTo>
                  <a:cubicBezTo>
                    <a:pt x="5098034" y="0"/>
                    <a:pt x="5328920" y="230886"/>
                    <a:pt x="5328920" y="515620"/>
                  </a:cubicBezTo>
                  <a:cubicBezTo>
                    <a:pt x="5328920" y="800354"/>
                    <a:pt x="5098034" y="1031240"/>
                    <a:pt x="4813300" y="1031240"/>
                  </a:cubicBezTo>
                  <a:lnTo>
                    <a:pt x="515620" y="1031240"/>
                  </a:lnTo>
                  <a:cubicBezTo>
                    <a:pt x="230886" y="1031240"/>
                    <a:pt x="0" y="800354"/>
                    <a:pt x="0" y="515620"/>
                  </a:cubicBezTo>
                  <a:close/>
                </a:path>
              </a:pathLst>
            </a:custGeom>
            <a:solidFill>
              <a:srgbClr val="F2F5FA"/>
            </a:solidFill>
            <a:ln w="19050" cap="sq">
              <a:solidFill>
                <a:srgbClr val="D7DEEC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7485320" y="6412230"/>
            <a:ext cx="3977640" cy="754380"/>
            <a:chOff x="0" y="0"/>
            <a:chExt cx="5303520" cy="10058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3035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739" r="0" b="-52739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0"/>
              <a:ext cx="530352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0F1729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Resolución de conflictos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60120" y="8023860"/>
            <a:ext cx="16322040" cy="1508760"/>
            <a:chOff x="0" y="0"/>
            <a:chExt cx="21762720" cy="201168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176272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17627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21543263" y="0"/>
                  </a:lnTo>
                  <a:cubicBezTo>
                    <a:pt x="21664422" y="0"/>
                    <a:pt x="21762720" y="98298"/>
                    <a:pt x="21762720" y="219456"/>
                  </a:cubicBezTo>
                  <a:lnTo>
                    <a:pt x="21762720" y="1792224"/>
                  </a:lnTo>
                  <a:cubicBezTo>
                    <a:pt x="21762720" y="1913382"/>
                    <a:pt x="21664422" y="2011680"/>
                    <a:pt x="21543263" y="2011680"/>
                  </a:cubicBezTo>
                  <a:lnTo>
                    <a:pt x="219456" y="2011680"/>
                  </a:lnTo>
                  <a:cubicBezTo>
                    <a:pt x="98298" y="2011680"/>
                    <a:pt x="0" y="1913382"/>
                    <a:pt x="0" y="1792224"/>
                  </a:cubicBezTo>
                  <a:close/>
                </a:path>
              </a:pathLst>
            </a:custGeom>
            <a:solidFill>
              <a:srgbClr val="2B4772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371600" y="8202168"/>
            <a:ext cx="8229600" cy="411480"/>
            <a:chOff x="0" y="0"/>
            <a:chExt cx="10972800" cy="54864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0"/>
              <a:ext cx="109728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50">
                  <a:solidFill>
                    <a:srgbClr val="D9A52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POR QUÉ ESTAS EVIDENCIAS 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371600" y="8572500"/>
            <a:ext cx="15499080" cy="822960"/>
            <a:chOff x="0" y="0"/>
            <a:chExt cx="20665440" cy="109728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0665439" cy="1097280"/>
            </a:xfrm>
            <a:custGeom>
              <a:avLst/>
              <a:gdLst/>
              <a:ahLst/>
              <a:cxnLst/>
              <a:rect r="r" b="b" t="t" l="l"/>
              <a:pathLst>
                <a:path h="109728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6968" r="0" b="-316968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9525"/>
              <a:ext cx="2066544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FFFFFF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Cada documento nos permite dejar un registro del trabajo realizado y facilitar el seguimiento del avance del proyecto.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8017589" y="5387970"/>
            <a:ext cx="1664970" cy="773430"/>
            <a:chOff x="0" y="0"/>
            <a:chExt cx="2219960" cy="103124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219960" cy="1031240"/>
            </a:xfrm>
            <a:custGeom>
              <a:avLst/>
              <a:gdLst/>
              <a:ahLst/>
              <a:cxnLst/>
              <a:rect r="r" b="b" t="t" l="l"/>
              <a:pathLst>
                <a:path h="1031240" w="2219960">
                  <a:moveTo>
                    <a:pt x="0" y="515620"/>
                  </a:moveTo>
                  <a:cubicBezTo>
                    <a:pt x="0" y="230886"/>
                    <a:pt x="230886" y="0"/>
                    <a:pt x="515620" y="0"/>
                  </a:cubicBezTo>
                  <a:lnTo>
                    <a:pt x="1704340" y="0"/>
                  </a:lnTo>
                  <a:cubicBezTo>
                    <a:pt x="1989074" y="0"/>
                    <a:pt x="2219960" y="230886"/>
                    <a:pt x="2219960" y="515620"/>
                  </a:cubicBezTo>
                  <a:cubicBezTo>
                    <a:pt x="2219960" y="800354"/>
                    <a:pt x="1989074" y="1031240"/>
                    <a:pt x="1704340" y="1031240"/>
                  </a:cubicBezTo>
                  <a:lnTo>
                    <a:pt x="515620" y="1031240"/>
                  </a:lnTo>
                  <a:cubicBezTo>
                    <a:pt x="230886" y="1031240"/>
                    <a:pt x="0" y="800354"/>
                    <a:pt x="0" y="515620"/>
                  </a:cubicBezTo>
                  <a:close/>
                </a:path>
              </a:pathLst>
            </a:custGeom>
            <a:solidFill>
              <a:srgbClr val="F2F5FA"/>
            </a:solidFill>
            <a:ln w="19050" cap="sq">
              <a:solidFill>
                <a:srgbClr val="D7DEEC"/>
              </a:solidFill>
              <a:prstDash val="solid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8027114" y="5397495"/>
            <a:ext cx="1645920" cy="754380"/>
            <a:chOff x="0" y="0"/>
            <a:chExt cx="2194560" cy="100584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1945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805" t="0" r="-8805" b="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0"/>
              <a:ext cx="219456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0F1729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EDT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754380"/>
            <a:ext cx="1234440" cy="1234440"/>
            <a:chOff x="0" y="0"/>
            <a:chExt cx="164592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0F172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71093" y="902513"/>
            <a:ext cx="938174" cy="938174"/>
            <a:chOff x="0" y="0"/>
            <a:chExt cx="1250899" cy="1250899"/>
          </a:xfrm>
        </p:grpSpPr>
        <p:sp>
          <p:nvSpPr>
            <p:cNvPr name="Freeform 5" id="5" descr="/home/claude/deck_assets/evidencias.png"/>
            <p:cNvSpPr/>
            <p:nvPr/>
          </p:nvSpPr>
          <p:spPr>
            <a:xfrm flipH="false" flipV="false" rot="0">
              <a:off x="0" y="0"/>
              <a:ext cx="1250950" cy="1250950"/>
            </a:xfrm>
            <a:custGeom>
              <a:avLst/>
              <a:gdLst/>
              <a:ahLst/>
              <a:cxnLst/>
              <a:rect r="r" b="b" t="t" l="l"/>
              <a:pathLst>
                <a:path h="1250950" w="1250950">
                  <a:moveTo>
                    <a:pt x="0" y="0"/>
                  </a:moveTo>
                  <a:lnTo>
                    <a:pt x="1250950" y="0"/>
                  </a:lnTo>
                  <a:lnTo>
                    <a:pt x="1250950" y="1250950"/>
                  </a:lnTo>
                  <a:lnTo>
                    <a:pt x="0" y="1250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4" b="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331720" y="685800"/>
            <a:ext cx="14401800" cy="411480"/>
            <a:chOff x="0" y="0"/>
            <a:chExt cx="1920240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202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976" r="0" b="-63197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9202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AD7A0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QUÉ SE ENTREGA Y POR QUÉ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331720" y="-154010"/>
            <a:ext cx="14401800" cy="3303594"/>
            <a:chOff x="0" y="0"/>
            <a:chExt cx="19202400" cy="440479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202400" cy="4404792"/>
            </a:xfrm>
            <a:custGeom>
              <a:avLst/>
              <a:gdLst/>
              <a:ahLst/>
              <a:cxnLst/>
              <a:rect r="r" b="b" t="t" l="l"/>
              <a:pathLst>
                <a:path h="4404792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19" r="-4761" b="-455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9202400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F17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Evidencias del proyecto: Requerimientos IEEE 830</a:t>
              </a:r>
            </a:p>
          </p:txBody>
        </p:sp>
      </p:grpSp>
      <p:graphicFrame>
        <p:nvGraphicFramePr>
          <p:cNvPr name="Object 12" id="12"/>
          <p:cNvGraphicFramePr/>
          <p:nvPr/>
        </p:nvGraphicFramePr>
        <p:xfrm>
          <a:off x="503621" y="2287195"/>
          <a:ext cx="3771900" cy="10896600"/>
        </p:xfrm>
        <a:graphic>
          <a:graphicData uri="http://schemas.openxmlformats.org/presentationml/2006/ole">
            <p:oleObj imgW="5943600" imgH="130683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13" id="13"/>
          <p:cNvGraphicFramePr/>
          <p:nvPr/>
        </p:nvGraphicFramePr>
        <p:xfrm>
          <a:off x="4661570" y="3580779"/>
          <a:ext cx="4726688" cy="10896600"/>
        </p:xfrm>
        <a:graphic>
          <a:graphicData uri="http://schemas.openxmlformats.org/presentationml/2006/ole">
            <p:oleObj imgW="6896100" imgH="130683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14" id="14"/>
          <p:cNvGraphicFramePr/>
          <p:nvPr/>
        </p:nvGraphicFramePr>
        <p:xfrm>
          <a:off x="9685132" y="2605491"/>
          <a:ext cx="3771900" cy="10058400"/>
        </p:xfrm>
        <a:graphic>
          <a:graphicData uri="http://schemas.openxmlformats.org/presentationml/2006/ole">
            <p:oleObj imgW="5778500" imgH="12065000" r:id="rId9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15" id="15"/>
          <p:cNvGraphicFramePr/>
          <p:nvPr/>
        </p:nvGraphicFramePr>
        <p:xfrm>
          <a:off x="13873881" y="2605491"/>
          <a:ext cx="3771900" cy="10058400"/>
        </p:xfrm>
        <a:graphic>
          <a:graphicData uri="http://schemas.openxmlformats.org/presentationml/2006/ole">
            <p:oleObj imgW="5778500" imgH="12065000" r:id="rId11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754380"/>
            <a:ext cx="1234440" cy="1234440"/>
            <a:chOff x="0" y="0"/>
            <a:chExt cx="164592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0F172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71093" y="902513"/>
            <a:ext cx="938174" cy="938174"/>
            <a:chOff x="0" y="0"/>
            <a:chExt cx="1250899" cy="1250899"/>
          </a:xfrm>
        </p:grpSpPr>
        <p:sp>
          <p:nvSpPr>
            <p:cNvPr name="Freeform 5" id="5" descr="/home/claude/deck_assets/evidencias.png"/>
            <p:cNvSpPr/>
            <p:nvPr/>
          </p:nvSpPr>
          <p:spPr>
            <a:xfrm flipH="false" flipV="false" rot="0">
              <a:off x="0" y="0"/>
              <a:ext cx="1250950" cy="1250950"/>
            </a:xfrm>
            <a:custGeom>
              <a:avLst/>
              <a:gdLst/>
              <a:ahLst/>
              <a:cxnLst/>
              <a:rect r="r" b="b" t="t" l="l"/>
              <a:pathLst>
                <a:path h="1250950" w="1250950">
                  <a:moveTo>
                    <a:pt x="0" y="0"/>
                  </a:moveTo>
                  <a:lnTo>
                    <a:pt x="1250950" y="0"/>
                  </a:lnTo>
                  <a:lnTo>
                    <a:pt x="1250950" y="1250950"/>
                  </a:lnTo>
                  <a:lnTo>
                    <a:pt x="0" y="1250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4" b="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331720" y="685800"/>
            <a:ext cx="14401800" cy="411480"/>
            <a:chOff x="0" y="0"/>
            <a:chExt cx="1920240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202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976" r="0" b="-63197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9202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AD7A0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QUÉ SE ENTREGA Y POR QUÉ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331720" y="-154010"/>
            <a:ext cx="14401800" cy="3303594"/>
            <a:chOff x="0" y="0"/>
            <a:chExt cx="19202400" cy="440479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202400" cy="4404792"/>
            </a:xfrm>
            <a:custGeom>
              <a:avLst/>
              <a:gdLst/>
              <a:ahLst/>
              <a:cxnLst/>
              <a:rect r="r" b="b" t="t" l="l"/>
              <a:pathLst>
                <a:path h="4404792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19" r="-4761" b="-455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9202400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F17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Evidencias del proyecto: Historias de Usuario</a:t>
              </a:r>
            </a:p>
          </p:txBody>
        </p:sp>
      </p:grpSp>
      <p:graphicFrame>
        <p:nvGraphicFramePr>
          <p:cNvPr name="Object 12" id="12"/>
          <p:cNvGraphicFramePr/>
          <p:nvPr/>
        </p:nvGraphicFramePr>
        <p:xfrm>
          <a:off x="261610" y="2144915"/>
          <a:ext cx="9163050" cy="11849100"/>
        </p:xfrm>
        <a:graphic>
          <a:graphicData uri="http://schemas.openxmlformats.org/presentationml/2006/ole">
            <p:oleObj imgW="11531600" imgH="142113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13" id="13"/>
          <p:cNvGraphicFramePr/>
          <p:nvPr/>
        </p:nvGraphicFramePr>
        <p:xfrm>
          <a:off x="9328798" y="2338877"/>
          <a:ext cx="9163050" cy="11849100"/>
        </p:xfrm>
        <a:graphic>
          <a:graphicData uri="http://schemas.openxmlformats.org/presentationml/2006/ole">
            <p:oleObj imgW="11531600" imgH="142113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754380"/>
            <a:ext cx="1234440" cy="1234440"/>
            <a:chOff x="0" y="0"/>
            <a:chExt cx="164592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0F172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71093" y="902513"/>
            <a:ext cx="938174" cy="938174"/>
            <a:chOff x="0" y="0"/>
            <a:chExt cx="1250899" cy="1250899"/>
          </a:xfrm>
        </p:grpSpPr>
        <p:sp>
          <p:nvSpPr>
            <p:cNvPr name="Freeform 5" id="5" descr="/home/claude/deck_assets/evidencias.png"/>
            <p:cNvSpPr/>
            <p:nvPr/>
          </p:nvSpPr>
          <p:spPr>
            <a:xfrm flipH="false" flipV="false" rot="0">
              <a:off x="0" y="0"/>
              <a:ext cx="1250950" cy="1250950"/>
            </a:xfrm>
            <a:custGeom>
              <a:avLst/>
              <a:gdLst/>
              <a:ahLst/>
              <a:cxnLst/>
              <a:rect r="r" b="b" t="t" l="l"/>
              <a:pathLst>
                <a:path h="1250950" w="1250950">
                  <a:moveTo>
                    <a:pt x="0" y="0"/>
                  </a:moveTo>
                  <a:lnTo>
                    <a:pt x="1250950" y="0"/>
                  </a:lnTo>
                  <a:lnTo>
                    <a:pt x="1250950" y="1250950"/>
                  </a:lnTo>
                  <a:lnTo>
                    <a:pt x="0" y="1250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4" b="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331720" y="685800"/>
            <a:ext cx="14401800" cy="411480"/>
            <a:chOff x="0" y="0"/>
            <a:chExt cx="1920240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202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976" r="0" b="-63197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9202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AD7A0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QUÉ SE ENTREGA Y POR QUÉ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171700" y="-154010"/>
            <a:ext cx="15087600" cy="3303594"/>
            <a:chOff x="0" y="0"/>
            <a:chExt cx="20116800" cy="440479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116800" cy="4404792"/>
            </a:xfrm>
            <a:custGeom>
              <a:avLst/>
              <a:gdLst/>
              <a:ahLst/>
              <a:cxnLst/>
              <a:rect r="r" b="b" t="t" l="l"/>
              <a:pathLst>
                <a:path h="4404792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19" r="0" b="-455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0116800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F17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Evidencias del proyecto: Diagrama de casos de uso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8913003" y="2465728"/>
            <a:ext cx="8709322" cy="6458448"/>
          </a:xfrm>
          <a:custGeom>
            <a:avLst/>
            <a:gdLst/>
            <a:ahLst/>
            <a:cxnLst/>
            <a:rect r="r" b="b" t="t" l="l"/>
            <a:pathLst>
              <a:path h="6458448" w="8709322">
                <a:moveTo>
                  <a:pt x="0" y="0"/>
                </a:moveTo>
                <a:lnTo>
                  <a:pt x="8709322" y="0"/>
                </a:lnTo>
                <a:lnTo>
                  <a:pt x="8709322" y="6458448"/>
                </a:lnTo>
                <a:lnTo>
                  <a:pt x="0" y="64584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39376" y="2219331"/>
            <a:ext cx="8164545" cy="7288105"/>
          </a:xfrm>
          <a:custGeom>
            <a:avLst/>
            <a:gdLst/>
            <a:ahLst/>
            <a:cxnLst/>
            <a:rect r="r" b="b" t="t" l="l"/>
            <a:pathLst>
              <a:path h="7288105" w="8164545">
                <a:moveTo>
                  <a:pt x="0" y="0"/>
                </a:moveTo>
                <a:lnTo>
                  <a:pt x="8164545" y="0"/>
                </a:lnTo>
                <a:lnTo>
                  <a:pt x="8164545" y="7288105"/>
                </a:lnTo>
                <a:lnTo>
                  <a:pt x="0" y="72881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754380"/>
            <a:ext cx="1234440" cy="1234440"/>
            <a:chOff x="0" y="0"/>
            <a:chExt cx="164592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0F172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71093" y="902513"/>
            <a:ext cx="938174" cy="938174"/>
            <a:chOff x="0" y="0"/>
            <a:chExt cx="1250899" cy="1250899"/>
          </a:xfrm>
        </p:grpSpPr>
        <p:sp>
          <p:nvSpPr>
            <p:cNvPr name="Freeform 5" id="5" descr="/home/claude/deck_assets/evidencias.png"/>
            <p:cNvSpPr/>
            <p:nvPr/>
          </p:nvSpPr>
          <p:spPr>
            <a:xfrm flipH="false" flipV="false" rot="0">
              <a:off x="0" y="0"/>
              <a:ext cx="1250950" cy="1250950"/>
            </a:xfrm>
            <a:custGeom>
              <a:avLst/>
              <a:gdLst/>
              <a:ahLst/>
              <a:cxnLst/>
              <a:rect r="r" b="b" t="t" l="l"/>
              <a:pathLst>
                <a:path h="1250950" w="1250950">
                  <a:moveTo>
                    <a:pt x="0" y="0"/>
                  </a:moveTo>
                  <a:lnTo>
                    <a:pt x="1250950" y="0"/>
                  </a:lnTo>
                  <a:lnTo>
                    <a:pt x="1250950" y="1250950"/>
                  </a:lnTo>
                  <a:lnTo>
                    <a:pt x="0" y="1250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4" b="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331720" y="685800"/>
            <a:ext cx="14401800" cy="411480"/>
            <a:chOff x="0" y="0"/>
            <a:chExt cx="1920240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202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976" r="0" b="-63197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9202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AD7A0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QUÉ SE ENTREGA Y POR QUÉ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331720" y="-342912"/>
            <a:ext cx="7110497" cy="3989394"/>
            <a:chOff x="0" y="0"/>
            <a:chExt cx="9480662" cy="531919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480662" cy="5319192"/>
            </a:xfrm>
            <a:custGeom>
              <a:avLst/>
              <a:gdLst/>
              <a:ahLst/>
              <a:cxnLst/>
              <a:rect r="r" b="b" t="t" l="l"/>
              <a:pathLst>
                <a:path h="5319192" w="9480662">
                  <a:moveTo>
                    <a:pt x="0" y="0"/>
                  </a:moveTo>
                  <a:lnTo>
                    <a:pt x="9480662" y="0"/>
                  </a:lnTo>
                  <a:lnTo>
                    <a:pt x="9480662" y="5319192"/>
                  </a:lnTo>
                  <a:lnTo>
                    <a:pt x="0" y="53191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798" r="-112187" b="1341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9480662" cy="53382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F17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Evidencias del proyecto: Diagrama de actividades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2358085" y="221846"/>
            <a:ext cx="5298980" cy="9843307"/>
          </a:xfrm>
          <a:custGeom>
            <a:avLst/>
            <a:gdLst/>
            <a:ahLst/>
            <a:cxnLst/>
            <a:rect r="r" b="b" t="t" l="l"/>
            <a:pathLst>
              <a:path h="9843307" w="5298980">
                <a:moveTo>
                  <a:pt x="0" y="0"/>
                </a:moveTo>
                <a:lnTo>
                  <a:pt x="5298981" y="0"/>
                </a:lnTo>
                <a:lnTo>
                  <a:pt x="5298981" y="9843308"/>
                </a:lnTo>
                <a:lnTo>
                  <a:pt x="0" y="98433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21333" y="2461990"/>
            <a:ext cx="2644218" cy="7710963"/>
          </a:xfrm>
          <a:custGeom>
            <a:avLst/>
            <a:gdLst/>
            <a:ahLst/>
            <a:cxnLst/>
            <a:rect r="r" b="b" t="t" l="l"/>
            <a:pathLst>
              <a:path h="7710963" w="2644218">
                <a:moveTo>
                  <a:pt x="0" y="0"/>
                </a:moveTo>
                <a:lnTo>
                  <a:pt x="2644218" y="0"/>
                </a:lnTo>
                <a:lnTo>
                  <a:pt x="2644218" y="7710962"/>
                </a:lnTo>
                <a:lnTo>
                  <a:pt x="0" y="77109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309104" y="2461990"/>
            <a:ext cx="4151068" cy="7710963"/>
          </a:xfrm>
          <a:custGeom>
            <a:avLst/>
            <a:gdLst/>
            <a:ahLst/>
            <a:cxnLst/>
            <a:rect r="r" b="b" t="t" l="l"/>
            <a:pathLst>
              <a:path h="7710963" w="4151068">
                <a:moveTo>
                  <a:pt x="0" y="0"/>
                </a:moveTo>
                <a:lnTo>
                  <a:pt x="4151068" y="0"/>
                </a:lnTo>
                <a:lnTo>
                  <a:pt x="4151068" y="7710962"/>
                </a:lnTo>
                <a:lnTo>
                  <a:pt x="0" y="77109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803072" y="2461990"/>
            <a:ext cx="4212113" cy="7710963"/>
          </a:xfrm>
          <a:custGeom>
            <a:avLst/>
            <a:gdLst/>
            <a:ahLst/>
            <a:cxnLst/>
            <a:rect r="r" b="b" t="t" l="l"/>
            <a:pathLst>
              <a:path h="7710963" w="4212113">
                <a:moveTo>
                  <a:pt x="0" y="0"/>
                </a:moveTo>
                <a:lnTo>
                  <a:pt x="4212113" y="0"/>
                </a:lnTo>
                <a:lnTo>
                  <a:pt x="4212113" y="7710962"/>
                </a:lnTo>
                <a:lnTo>
                  <a:pt x="0" y="77109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754380"/>
            <a:ext cx="1234440" cy="1234440"/>
            <a:chOff x="0" y="0"/>
            <a:chExt cx="164592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0F172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71093" y="902513"/>
            <a:ext cx="938174" cy="938174"/>
            <a:chOff x="0" y="0"/>
            <a:chExt cx="1250899" cy="1250899"/>
          </a:xfrm>
        </p:grpSpPr>
        <p:sp>
          <p:nvSpPr>
            <p:cNvPr name="Freeform 5" id="5" descr="/home/claude/deck_assets/evidencias.png"/>
            <p:cNvSpPr/>
            <p:nvPr/>
          </p:nvSpPr>
          <p:spPr>
            <a:xfrm flipH="false" flipV="false" rot="0">
              <a:off x="0" y="0"/>
              <a:ext cx="1250950" cy="1250950"/>
            </a:xfrm>
            <a:custGeom>
              <a:avLst/>
              <a:gdLst/>
              <a:ahLst/>
              <a:cxnLst/>
              <a:rect r="r" b="b" t="t" l="l"/>
              <a:pathLst>
                <a:path h="1250950" w="1250950">
                  <a:moveTo>
                    <a:pt x="0" y="0"/>
                  </a:moveTo>
                  <a:lnTo>
                    <a:pt x="1250950" y="0"/>
                  </a:lnTo>
                  <a:lnTo>
                    <a:pt x="1250950" y="1250950"/>
                  </a:lnTo>
                  <a:lnTo>
                    <a:pt x="0" y="1250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4" b="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331720" y="685800"/>
            <a:ext cx="14401800" cy="411480"/>
            <a:chOff x="0" y="0"/>
            <a:chExt cx="1920240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202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976" r="0" b="-63197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9202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AD7A0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QUÉ SE ENTREGA Y POR QUÉ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171700" y="-264214"/>
            <a:ext cx="15087600" cy="3989394"/>
            <a:chOff x="0" y="0"/>
            <a:chExt cx="20116800" cy="531919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116800" cy="5319192"/>
            </a:xfrm>
            <a:custGeom>
              <a:avLst/>
              <a:gdLst/>
              <a:ahLst/>
              <a:cxnLst/>
              <a:rect r="r" b="b" t="t" l="l"/>
              <a:pathLst>
                <a:path h="5319192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5319192"/>
                  </a:lnTo>
                  <a:lnTo>
                    <a:pt x="0" y="53191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798" r="0" b="1341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0116800" cy="53382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F17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Evidencias del proyecto: Diagrama de clases y Modelo de base de datos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2601885" y="2514365"/>
            <a:ext cx="13084230" cy="7278103"/>
          </a:xfrm>
          <a:custGeom>
            <a:avLst/>
            <a:gdLst/>
            <a:ahLst/>
            <a:cxnLst/>
            <a:rect r="r" b="b" t="t" l="l"/>
            <a:pathLst>
              <a:path h="7278103" w="13084230">
                <a:moveTo>
                  <a:pt x="0" y="0"/>
                </a:moveTo>
                <a:lnTo>
                  <a:pt x="13084230" y="0"/>
                </a:lnTo>
                <a:lnTo>
                  <a:pt x="13084230" y="7278103"/>
                </a:lnTo>
                <a:lnTo>
                  <a:pt x="0" y="72781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754380"/>
            <a:ext cx="1234440" cy="1234440"/>
            <a:chOff x="0" y="0"/>
            <a:chExt cx="164592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0F172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71093" y="902513"/>
            <a:ext cx="938174" cy="938174"/>
            <a:chOff x="0" y="0"/>
            <a:chExt cx="1250899" cy="1250899"/>
          </a:xfrm>
        </p:grpSpPr>
        <p:sp>
          <p:nvSpPr>
            <p:cNvPr name="Freeform 5" id="5" descr="/home/claude/deck_assets/evidencias.png"/>
            <p:cNvSpPr/>
            <p:nvPr/>
          </p:nvSpPr>
          <p:spPr>
            <a:xfrm flipH="false" flipV="false" rot="0">
              <a:off x="0" y="0"/>
              <a:ext cx="1250950" cy="1250950"/>
            </a:xfrm>
            <a:custGeom>
              <a:avLst/>
              <a:gdLst/>
              <a:ahLst/>
              <a:cxnLst/>
              <a:rect r="r" b="b" t="t" l="l"/>
              <a:pathLst>
                <a:path h="1250950" w="1250950">
                  <a:moveTo>
                    <a:pt x="0" y="0"/>
                  </a:moveTo>
                  <a:lnTo>
                    <a:pt x="1250950" y="0"/>
                  </a:lnTo>
                  <a:lnTo>
                    <a:pt x="1250950" y="1250950"/>
                  </a:lnTo>
                  <a:lnTo>
                    <a:pt x="0" y="1250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4" b="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331720" y="685800"/>
            <a:ext cx="14401800" cy="411480"/>
            <a:chOff x="0" y="0"/>
            <a:chExt cx="1920240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202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976" r="0" b="-63197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9202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AD7A0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QUÉ SE ENTREGA Y POR QUÉ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171700" y="-264214"/>
            <a:ext cx="15087600" cy="3989394"/>
            <a:chOff x="0" y="0"/>
            <a:chExt cx="20116800" cy="531919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116800" cy="5319192"/>
            </a:xfrm>
            <a:custGeom>
              <a:avLst/>
              <a:gdLst/>
              <a:ahLst/>
              <a:cxnLst/>
              <a:rect r="r" b="b" t="t" l="l"/>
              <a:pathLst>
                <a:path h="5319192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5319192"/>
                  </a:lnTo>
                  <a:lnTo>
                    <a:pt x="0" y="53191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798" r="0" b="1341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0116800" cy="53382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F17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Evidencias del proyecto: Diagrama de clases y Modelo de base de datos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5488958" y="2411576"/>
            <a:ext cx="6935076" cy="7727104"/>
          </a:xfrm>
          <a:custGeom>
            <a:avLst/>
            <a:gdLst/>
            <a:ahLst/>
            <a:cxnLst/>
            <a:rect r="r" b="b" t="t" l="l"/>
            <a:pathLst>
              <a:path h="7727104" w="6935076">
                <a:moveTo>
                  <a:pt x="0" y="0"/>
                </a:moveTo>
                <a:lnTo>
                  <a:pt x="6935075" y="0"/>
                </a:lnTo>
                <a:lnTo>
                  <a:pt x="6935075" y="7727104"/>
                </a:lnTo>
                <a:lnTo>
                  <a:pt x="0" y="77271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754380"/>
            <a:ext cx="1234440" cy="1234440"/>
            <a:chOff x="0" y="0"/>
            <a:chExt cx="164592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0F172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71093" y="902513"/>
            <a:ext cx="938174" cy="938174"/>
            <a:chOff x="0" y="0"/>
            <a:chExt cx="1250899" cy="1250899"/>
          </a:xfrm>
        </p:grpSpPr>
        <p:sp>
          <p:nvSpPr>
            <p:cNvPr name="Freeform 5" id="5" descr="/home/claude/deck_assets/evidencias.png"/>
            <p:cNvSpPr/>
            <p:nvPr/>
          </p:nvSpPr>
          <p:spPr>
            <a:xfrm flipH="false" flipV="false" rot="0">
              <a:off x="0" y="0"/>
              <a:ext cx="1250950" cy="1250950"/>
            </a:xfrm>
            <a:custGeom>
              <a:avLst/>
              <a:gdLst/>
              <a:ahLst/>
              <a:cxnLst/>
              <a:rect r="r" b="b" t="t" l="l"/>
              <a:pathLst>
                <a:path h="1250950" w="1250950">
                  <a:moveTo>
                    <a:pt x="0" y="0"/>
                  </a:moveTo>
                  <a:lnTo>
                    <a:pt x="1250950" y="0"/>
                  </a:lnTo>
                  <a:lnTo>
                    <a:pt x="1250950" y="1250950"/>
                  </a:lnTo>
                  <a:lnTo>
                    <a:pt x="0" y="1250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4" b="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331720" y="685800"/>
            <a:ext cx="14401800" cy="411480"/>
            <a:chOff x="0" y="0"/>
            <a:chExt cx="1920240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202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976" r="0" b="-63197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9202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AD7A0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QUÉ SE ENTREGA Y POR QUÉ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171700" y="-264214"/>
            <a:ext cx="15087600" cy="3989394"/>
            <a:chOff x="0" y="0"/>
            <a:chExt cx="20116800" cy="531919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116800" cy="5319192"/>
            </a:xfrm>
            <a:custGeom>
              <a:avLst/>
              <a:gdLst/>
              <a:ahLst/>
              <a:cxnLst/>
              <a:rect r="r" b="b" t="t" l="l"/>
              <a:pathLst>
                <a:path h="5319192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5319192"/>
                  </a:lnTo>
                  <a:lnTo>
                    <a:pt x="0" y="53191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798" r="0" b="1341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0116800" cy="53382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F17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Evidencias del proyecto: Matriz de Interesados y Matriz Poder-Interés</a:t>
              </a:r>
            </a:p>
          </p:txBody>
        </p:sp>
      </p:grpSp>
      <p:graphicFrame>
        <p:nvGraphicFramePr>
          <p:cNvPr name="Object 12" id="12"/>
          <p:cNvGraphicFramePr/>
          <p:nvPr/>
        </p:nvGraphicFramePr>
        <p:xfrm>
          <a:off x="1299998" y="2446007"/>
          <a:ext cx="16783050" cy="6256020"/>
        </p:xfrm>
        <a:graphic>
          <a:graphicData uri="http://schemas.openxmlformats.org/presentationml/2006/ole">
            <p:oleObj imgW="20129500" imgH="96012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754380"/>
            <a:ext cx="1234440" cy="1234440"/>
            <a:chOff x="0" y="0"/>
            <a:chExt cx="164592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0F172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71093" y="902513"/>
            <a:ext cx="938174" cy="938174"/>
            <a:chOff x="0" y="0"/>
            <a:chExt cx="1250899" cy="1250899"/>
          </a:xfrm>
        </p:grpSpPr>
        <p:sp>
          <p:nvSpPr>
            <p:cNvPr name="Freeform 5" id="5" descr="/home/claude/deck_assets/evidencias.png"/>
            <p:cNvSpPr/>
            <p:nvPr/>
          </p:nvSpPr>
          <p:spPr>
            <a:xfrm flipH="false" flipV="false" rot="0">
              <a:off x="0" y="0"/>
              <a:ext cx="1250950" cy="1250950"/>
            </a:xfrm>
            <a:custGeom>
              <a:avLst/>
              <a:gdLst/>
              <a:ahLst/>
              <a:cxnLst/>
              <a:rect r="r" b="b" t="t" l="l"/>
              <a:pathLst>
                <a:path h="1250950" w="1250950">
                  <a:moveTo>
                    <a:pt x="0" y="0"/>
                  </a:moveTo>
                  <a:lnTo>
                    <a:pt x="1250950" y="0"/>
                  </a:lnTo>
                  <a:lnTo>
                    <a:pt x="1250950" y="1250950"/>
                  </a:lnTo>
                  <a:lnTo>
                    <a:pt x="0" y="1250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4" b="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331720" y="685800"/>
            <a:ext cx="14401800" cy="411480"/>
            <a:chOff x="0" y="0"/>
            <a:chExt cx="1920240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202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976" r="0" b="-63197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9202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AD7A0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QUÉ SE ENTREGA Y POR QUÉ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171700" y="-264214"/>
            <a:ext cx="15087600" cy="3989394"/>
            <a:chOff x="0" y="0"/>
            <a:chExt cx="20116800" cy="531919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116800" cy="5319192"/>
            </a:xfrm>
            <a:custGeom>
              <a:avLst/>
              <a:gdLst/>
              <a:ahLst/>
              <a:cxnLst/>
              <a:rect r="r" b="b" t="t" l="l"/>
              <a:pathLst>
                <a:path h="5319192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5319192"/>
                  </a:lnTo>
                  <a:lnTo>
                    <a:pt x="0" y="53191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798" r="0" b="1341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0116800" cy="53382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F17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Evidencias del proyecto: Matriz de Interesados y Matriz Poder-Interés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2413561" y="2988651"/>
            <a:ext cx="13460879" cy="5857730"/>
          </a:xfrm>
          <a:custGeom>
            <a:avLst/>
            <a:gdLst/>
            <a:ahLst/>
            <a:cxnLst/>
            <a:rect r="r" b="b" t="t" l="l"/>
            <a:pathLst>
              <a:path h="5857730" w="13460879">
                <a:moveTo>
                  <a:pt x="0" y="0"/>
                </a:moveTo>
                <a:lnTo>
                  <a:pt x="13460878" y="0"/>
                </a:lnTo>
                <a:lnTo>
                  <a:pt x="13460878" y="5857731"/>
                </a:lnTo>
                <a:lnTo>
                  <a:pt x="0" y="58577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754380"/>
            <a:ext cx="1234440" cy="1234440"/>
            <a:chOff x="0" y="0"/>
            <a:chExt cx="164592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0F172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71093" y="902513"/>
            <a:ext cx="938174" cy="938174"/>
            <a:chOff x="0" y="0"/>
            <a:chExt cx="1250899" cy="1250899"/>
          </a:xfrm>
        </p:grpSpPr>
        <p:sp>
          <p:nvSpPr>
            <p:cNvPr name="Freeform 5" id="5" descr="/home/claude/deck_assets/mockups.png"/>
            <p:cNvSpPr/>
            <p:nvPr/>
          </p:nvSpPr>
          <p:spPr>
            <a:xfrm flipH="false" flipV="false" rot="0">
              <a:off x="0" y="0"/>
              <a:ext cx="1250950" cy="1250950"/>
            </a:xfrm>
            <a:custGeom>
              <a:avLst/>
              <a:gdLst/>
              <a:ahLst/>
              <a:cxnLst/>
              <a:rect r="r" b="b" t="t" l="l"/>
              <a:pathLst>
                <a:path h="1250950" w="1250950">
                  <a:moveTo>
                    <a:pt x="0" y="0"/>
                  </a:moveTo>
                  <a:lnTo>
                    <a:pt x="1250950" y="0"/>
                  </a:lnTo>
                  <a:lnTo>
                    <a:pt x="1250950" y="1250950"/>
                  </a:lnTo>
                  <a:lnTo>
                    <a:pt x="0" y="1250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4" b="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331720" y="685800"/>
            <a:ext cx="14401800" cy="411480"/>
            <a:chOff x="0" y="0"/>
            <a:chExt cx="1920240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202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976" r="0" b="-63197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9202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AD7A0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EVIDENCIA VISUAL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331720" y="1069848"/>
            <a:ext cx="15087600" cy="1028700"/>
            <a:chOff x="0" y="0"/>
            <a:chExt cx="20116800" cy="1371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1168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780" r="0" b="-23578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011680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F17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Mockups: Planes y productos y checkout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60120" y="2606040"/>
            <a:ext cx="10081260" cy="6652260"/>
            <a:chOff x="0" y="0"/>
            <a:chExt cx="13441680" cy="8869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441680" cy="8869680"/>
            </a:xfrm>
            <a:custGeom>
              <a:avLst/>
              <a:gdLst/>
              <a:ahLst/>
              <a:cxnLst/>
              <a:rect r="r" b="b" t="t" l="l"/>
              <a:pathLst>
                <a:path h="8869680" w="134416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3222224" y="0"/>
                  </a:lnTo>
                  <a:cubicBezTo>
                    <a:pt x="13343382" y="0"/>
                    <a:pt x="13441680" y="98298"/>
                    <a:pt x="13441680" y="219456"/>
                  </a:cubicBezTo>
                  <a:lnTo>
                    <a:pt x="13441680" y="8650224"/>
                  </a:lnTo>
                  <a:cubicBezTo>
                    <a:pt x="13441680" y="8771382"/>
                    <a:pt x="13343382" y="8869680"/>
                    <a:pt x="13222224" y="8869680"/>
                  </a:cubicBezTo>
                  <a:lnTo>
                    <a:pt x="219456" y="8869680"/>
                  </a:lnTo>
                  <a:cubicBezTo>
                    <a:pt x="98298" y="8869680"/>
                    <a:pt x="0" y="8771382"/>
                    <a:pt x="0" y="8650224"/>
                  </a:cubicBezTo>
                  <a:close/>
                </a:path>
              </a:pathLst>
            </a:custGeom>
            <a:solidFill>
              <a:srgbClr val="F2F5FA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03020" y="2880360"/>
            <a:ext cx="9395460" cy="5897880"/>
            <a:chOff x="0" y="0"/>
            <a:chExt cx="12527280" cy="7863840"/>
          </a:xfrm>
        </p:grpSpPr>
        <p:sp>
          <p:nvSpPr>
            <p:cNvPr name="Freeform 15" id="15" descr="/home/claude/mockup/v4_plans.png"/>
            <p:cNvSpPr/>
            <p:nvPr/>
          </p:nvSpPr>
          <p:spPr>
            <a:xfrm flipH="false" flipV="false" rot="0">
              <a:off x="0" y="0"/>
              <a:ext cx="12527280" cy="7863840"/>
            </a:xfrm>
            <a:custGeom>
              <a:avLst/>
              <a:gdLst/>
              <a:ahLst/>
              <a:cxnLst/>
              <a:rect r="r" b="b" t="t" l="l"/>
              <a:pathLst>
                <a:path h="7863840" w="12527280">
                  <a:moveTo>
                    <a:pt x="0" y="0"/>
                  </a:moveTo>
                  <a:lnTo>
                    <a:pt x="12527280" y="0"/>
                  </a:lnTo>
                  <a:lnTo>
                    <a:pt x="12527280" y="7863840"/>
                  </a:lnTo>
                  <a:lnTo>
                    <a:pt x="0" y="7863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85" t="0" r="-85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03020" y="8709660"/>
            <a:ext cx="9395460" cy="480060"/>
            <a:chOff x="0" y="0"/>
            <a:chExt cx="12527280" cy="6400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527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2527280">
                  <a:moveTo>
                    <a:pt x="0" y="0"/>
                  </a:moveTo>
                  <a:lnTo>
                    <a:pt x="12527280" y="0"/>
                  </a:lnTo>
                  <a:lnTo>
                    <a:pt x="1252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1350" r="0" b="-33135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1252728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Vista de administración - crear, editar y eliminar planes, límites de uso y badges por acción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384280" y="2606040"/>
            <a:ext cx="5897880" cy="6652260"/>
            <a:chOff x="0" y="0"/>
            <a:chExt cx="7863840" cy="88696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863840" cy="8869680"/>
            </a:xfrm>
            <a:custGeom>
              <a:avLst/>
              <a:gdLst/>
              <a:ahLst/>
              <a:cxnLst/>
              <a:rect r="r" b="b" t="t" l="l"/>
              <a:pathLst>
                <a:path h="8869680" w="786384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7644384" y="0"/>
                  </a:lnTo>
                  <a:cubicBezTo>
                    <a:pt x="7765542" y="0"/>
                    <a:pt x="7863840" y="98298"/>
                    <a:pt x="7863840" y="219456"/>
                  </a:cubicBezTo>
                  <a:lnTo>
                    <a:pt x="7863840" y="8650224"/>
                  </a:lnTo>
                  <a:cubicBezTo>
                    <a:pt x="7863840" y="8771382"/>
                    <a:pt x="7765542" y="8869680"/>
                    <a:pt x="7644384" y="8869680"/>
                  </a:cubicBezTo>
                  <a:lnTo>
                    <a:pt x="219456" y="8869680"/>
                  </a:lnTo>
                  <a:cubicBezTo>
                    <a:pt x="98298" y="8869680"/>
                    <a:pt x="0" y="8771382"/>
                    <a:pt x="0" y="8650224"/>
                  </a:cubicBezTo>
                  <a:close/>
                </a:path>
              </a:pathLst>
            </a:custGeom>
            <a:solidFill>
              <a:srgbClr val="F2F5FA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824460" y="2880360"/>
            <a:ext cx="3017520" cy="4937760"/>
            <a:chOff x="0" y="0"/>
            <a:chExt cx="4023360" cy="6583680"/>
          </a:xfrm>
        </p:grpSpPr>
        <p:sp>
          <p:nvSpPr>
            <p:cNvPr name="Freeform 22" id="22" descr="/home/claude/mockup/checkout_confirmado.png"/>
            <p:cNvSpPr/>
            <p:nvPr/>
          </p:nvSpPr>
          <p:spPr>
            <a:xfrm flipH="false" flipV="false" rot="0">
              <a:off x="0" y="0"/>
              <a:ext cx="4023360" cy="6583680"/>
            </a:xfrm>
            <a:custGeom>
              <a:avLst/>
              <a:gdLst/>
              <a:ahLst/>
              <a:cxnLst/>
              <a:rect r="r" b="b" t="t" l="l"/>
              <a:pathLst>
                <a:path h="65836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6583680"/>
                  </a:lnTo>
                  <a:lnTo>
                    <a:pt x="0" y="6583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11" r="0" b="-111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727180" y="7886700"/>
            <a:ext cx="5349240" cy="754380"/>
            <a:chOff x="0" y="0"/>
            <a:chExt cx="7132320" cy="10058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1323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166" r="0" b="-8816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713232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Checkout y confirmación de pago del alumno, simulando la futura pasarela de Stripe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727180" y="8709660"/>
            <a:ext cx="5349240" cy="480060"/>
            <a:chOff x="0" y="0"/>
            <a:chExt cx="7132320" cy="6400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132320" cy="640080"/>
            </a:xfrm>
            <a:custGeom>
              <a:avLst/>
              <a:gdLst/>
              <a:ahLst/>
              <a:cxnLst/>
              <a:rect r="r" b="b" t="t" l="l"/>
              <a:pathLst>
                <a:path h="64008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18" r="0" b="-16711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713232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AD7A0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aprueba-mockup.vercel.app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345518"/>
            <a:ext cx="14295061" cy="6652260"/>
            <a:chOff x="0" y="0"/>
            <a:chExt cx="19060082" cy="88696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060082" cy="8869680"/>
            </a:xfrm>
            <a:custGeom>
              <a:avLst/>
              <a:gdLst/>
              <a:ahLst/>
              <a:cxnLst/>
              <a:rect r="r" b="b" t="t" l="l"/>
              <a:pathLst>
                <a:path h="8869680" w="19060082">
                  <a:moveTo>
                    <a:pt x="0" y="219456"/>
                  </a:moveTo>
                  <a:cubicBezTo>
                    <a:pt x="0" y="98298"/>
                    <a:pt x="139385" y="0"/>
                    <a:pt x="311185" y="0"/>
                  </a:cubicBezTo>
                  <a:lnTo>
                    <a:pt x="18748896" y="0"/>
                  </a:lnTo>
                  <a:cubicBezTo>
                    <a:pt x="18920698" y="0"/>
                    <a:pt x="19060082" y="98298"/>
                    <a:pt x="19060082" y="219456"/>
                  </a:cubicBezTo>
                  <a:lnTo>
                    <a:pt x="19060082" y="8650224"/>
                  </a:lnTo>
                  <a:cubicBezTo>
                    <a:pt x="19060082" y="8771382"/>
                    <a:pt x="18920698" y="8869680"/>
                    <a:pt x="18748896" y="8869680"/>
                  </a:cubicBezTo>
                  <a:lnTo>
                    <a:pt x="311185" y="8869680"/>
                  </a:lnTo>
                  <a:cubicBezTo>
                    <a:pt x="139385" y="8869680"/>
                    <a:pt x="0" y="8771382"/>
                    <a:pt x="0" y="8650224"/>
                  </a:cubicBezTo>
                  <a:close/>
                </a:path>
              </a:pathLst>
            </a:custGeom>
            <a:blipFill>
              <a:blip r:embed="rId2"/>
              <a:stretch>
                <a:fillRect l="0" t="-1036" r="0" b="-103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41874" y="9114545"/>
            <a:ext cx="8390746" cy="480060"/>
            <a:chOff x="0" y="0"/>
            <a:chExt cx="11187661" cy="6400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187661" cy="640080"/>
            </a:xfrm>
            <a:custGeom>
              <a:avLst/>
              <a:gdLst/>
              <a:ahLst/>
              <a:cxnLst/>
              <a:rect r="r" b="b" t="t" l="l"/>
              <a:pathLst>
                <a:path h="640080" w="11187661">
                  <a:moveTo>
                    <a:pt x="0" y="0"/>
                  </a:moveTo>
                  <a:lnTo>
                    <a:pt x="11187661" y="0"/>
                  </a:lnTo>
                  <a:lnTo>
                    <a:pt x="11187661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1350" r="-11974" b="-33135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1187661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7F9B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Vista de administración - Sincronizción Stipe, exportar, reembolzar y vizualizar pagos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754380"/>
            <a:ext cx="1234440" cy="1234440"/>
            <a:chOff x="0" y="0"/>
            <a:chExt cx="1645920" cy="16459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0F1729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71093" y="902513"/>
            <a:ext cx="938174" cy="938174"/>
            <a:chOff x="0" y="0"/>
            <a:chExt cx="1250899" cy="1250899"/>
          </a:xfrm>
        </p:grpSpPr>
        <p:sp>
          <p:nvSpPr>
            <p:cNvPr name="Freeform 10" id="10" descr="/home/claude/deck_assets/mockups.png"/>
            <p:cNvSpPr/>
            <p:nvPr/>
          </p:nvSpPr>
          <p:spPr>
            <a:xfrm flipH="false" flipV="false" rot="0">
              <a:off x="0" y="0"/>
              <a:ext cx="1250950" cy="1250950"/>
            </a:xfrm>
            <a:custGeom>
              <a:avLst/>
              <a:gdLst/>
              <a:ahLst/>
              <a:cxnLst/>
              <a:rect r="r" b="b" t="t" l="l"/>
              <a:pathLst>
                <a:path h="1250950" w="1250950">
                  <a:moveTo>
                    <a:pt x="0" y="0"/>
                  </a:moveTo>
                  <a:lnTo>
                    <a:pt x="1250950" y="0"/>
                  </a:lnTo>
                  <a:lnTo>
                    <a:pt x="1250950" y="1250950"/>
                  </a:lnTo>
                  <a:lnTo>
                    <a:pt x="0" y="1250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4" b="4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331720" y="685800"/>
            <a:ext cx="14401800" cy="411480"/>
            <a:chOff x="0" y="0"/>
            <a:chExt cx="192024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202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976" r="0" b="-63197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9202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AD7A0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EVIDENCIA VISUAL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171700" y="-189794"/>
            <a:ext cx="15087600" cy="3303594"/>
            <a:chOff x="0" y="0"/>
            <a:chExt cx="20116800" cy="440479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116800" cy="4404792"/>
            </a:xfrm>
            <a:custGeom>
              <a:avLst/>
              <a:gdLst/>
              <a:ahLst/>
              <a:cxnLst/>
              <a:rect r="r" b="b" t="t" l="l"/>
              <a:pathLst>
                <a:path h="4404792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19" r="0" b="-455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20116800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F17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Mockups: Facturación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429000" y="-3429000"/>
            <a:ext cx="8229600" cy="8229600"/>
            <a:chOff x="0" y="0"/>
            <a:chExt cx="10972800" cy="1097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0972800">
                  <a:moveTo>
                    <a:pt x="0" y="5486400"/>
                  </a:moveTo>
                  <a:cubicBezTo>
                    <a:pt x="0" y="2456307"/>
                    <a:pt x="2456307" y="0"/>
                    <a:pt x="5486400" y="0"/>
                  </a:cubicBezTo>
                  <a:cubicBezTo>
                    <a:pt x="8516493" y="0"/>
                    <a:pt x="10972800" y="2456307"/>
                    <a:pt x="10972800" y="5486400"/>
                  </a:cubicBezTo>
                  <a:cubicBezTo>
                    <a:pt x="10972800" y="8516493"/>
                    <a:pt x="8516493" y="10972800"/>
                    <a:pt x="5486400" y="10972800"/>
                  </a:cubicBezTo>
                  <a:cubicBezTo>
                    <a:pt x="2456307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F2F5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2057400" y="-2057400"/>
            <a:ext cx="5486400" cy="5486400"/>
            <a:chOff x="0" y="0"/>
            <a:chExt cx="7315200" cy="731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7315200">
                  <a:moveTo>
                    <a:pt x="0" y="3657600"/>
                  </a:moveTo>
                  <a:cubicBezTo>
                    <a:pt x="0" y="1637538"/>
                    <a:pt x="1637538" y="0"/>
                    <a:pt x="3657600" y="0"/>
                  </a:cubicBezTo>
                  <a:cubicBezTo>
                    <a:pt x="5677662" y="0"/>
                    <a:pt x="7315200" y="1637538"/>
                    <a:pt x="7315200" y="3657600"/>
                  </a:cubicBezTo>
                  <a:cubicBezTo>
                    <a:pt x="7315200" y="5677662"/>
                    <a:pt x="5677662" y="7315200"/>
                    <a:pt x="3657600" y="7315200"/>
                  </a:cubicBezTo>
                  <a:cubicBezTo>
                    <a:pt x="1637538" y="7315200"/>
                    <a:pt x="0" y="5677662"/>
                    <a:pt x="0" y="3657600"/>
                  </a:cubicBezTo>
                  <a:close/>
                </a:path>
              </a:pathLst>
            </a:custGeom>
            <a:solidFill>
              <a:srgbClr val="E7ECF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97280" y="1508760"/>
            <a:ext cx="1371600" cy="1371600"/>
            <a:chOff x="0" y="0"/>
            <a:chExt cx="1828800" cy="1828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</a:path>
              </a:pathLst>
            </a:custGeom>
            <a:solidFill>
              <a:srgbClr val="0F1729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61872" y="1673352"/>
            <a:ext cx="1042416" cy="1042416"/>
            <a:chOff x="0" y="0"/>
            <a:chExt cx="1389888" cy="1389888"/>
          </a:xfrm>
        </p:grpSpPr>
        <p:sp>
          <p:nvSpPr>
            <p:cNvPr name="Freeform 9" id="9" descr="/home/claude/deck_assets/conclusion.png"/>
            <p:cNvSpPr/>
            <p:nvPr/>
          </p:nvSpPr>
          <p:spPr>
            <a:xfrm flipH="false" flipV="false" rot="0">
              <a:off x="0" y="0"/>
              <a:ext cx="1389888" cy="1389888"/>
            </a:xfrm>
            <a:custGeom>
              <a:avLst/>
              <a:gdLst/>
              <a:ahLst/>
              <a:cxnLst/>
              <a:rect r="r" b="b" t="t" l="l"/>
              <a:pathLst>
                <a:path h="1389888" w="1389888">
                  <a:moveTo>
                    <a:pt x="0" y="0"/>
                  </a:moveTo>
                  <a:lnTo>
                    <a:pt x="1389888" y="0"/>
                  </a:lnTo>
                  <a:lnTo>
                    <a:pt x="1389888" y="1389888"/>
                  </a:lnTo>
                  <a:lnTo>
                    <a:pt x="0" y="1389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743200" y="1577340"/>
            <a:ext cx="12344400" cy="548640"/>
            <a:chOff x="0" y="0"/>
            <a:chExt cx="1645920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45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64592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AD7A0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CONCLUSIÓN Y PRÓXIMOS PASOS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20140" y="2014808"/>
            <a:ext cx="16047720" cy="3303594"/>
            <a:chOff x="0" y="0"/>
            <a:chExt cx="21396960" cy="44047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396961" cy="4404792"/>
            </a:xfrm>
            <a:custGeom>
              <a:avLst/>
              <a:gdLst/>
              <a:ahLst/>
              <a:cxnLst/>
              <a:rect r="r" b="b" t="t" l="l"/>
              <a:pathLst>
                <a:path h="4404792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664" r="0" b="-21638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21396960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F17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Conclusiones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11580" y="4732020"/>
            <a:ext cx="16047720" cy="4126811"/>
            <a:chOff x="0" y="0"/>
            <a:chExt cx="21396960" cy="550241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96961" cy="5502415"/>
            </a:xfrm>
            <a:custGeom>
              <a:avLst/>
              <a:gdLst/>
              <a:ahLst/>
              <a:cxnLst/>
              <a:rect r="r" b="b" t="t" l="l"/>
              <a:pathLst>
                <a:path h="5502415" w="21396961">
                  <a:moveTo>
                    <a:pt x="0" y="440193"/>
                  </a:moveTo>
                  <a:cubicBezTo>
                    <a:pt x="0" y="197170"/>
                    <a:pt x="98298" y="0"/>
                    <a:pt x="219456" y="0"/>
                  </a:cubicBezTo>
                  <a:lnTo>
                    <a:pt x="21177504" y="0"/>
                  </a:lnTo>
                  <a:cubicBezTo>
                    <a:pt x="21298663" y="0"/>
                    <a:pt x="21396961" y="197170"/>
                    <a:pt x="21396961" y="440193"/>
                  </a:cubicBezTo>
                  <a:lnTo>
                    <a:pt x="21396961" y="5062222"/>
                  </a:lnTo>
                  <a:cubicBezTo>
                    <a:pt x="21396961" y="5305245"/>
                    <a:pt x="21298663" y="5502415"/>
                    <a:pt x="21177504" y="5502415"/>
                  </a:cubicBezTo>
                  <a:lnTo>
                    <a:pt x="219456" y="5502415"/>
                  </a:lnTo>
                  <a:cubicBezTo>
                    <a:pt x="98298" y="5502415"/>
                    <a:pt x="0" y="5305245"/>
                    <a:pt x="0" y="5062222"/>
                  </a:cubicBezTo>
                  <a:close/>
                </a:path>
              </a:pathLst>
            </a:custGeom>
            <a:solidFill>
              <a:srgbClr val="2B4772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120140" y="4842801"/>
            <a:ext cx="16047720" cy="3895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28371" indent="-464186" lvl="1">
              <a:lnSpc>
                <a:spcPts val="5160"/>
              </a:lnSpc>
              <a:buFont typeface="Arial"/>
              <a:buChar char="•"/>
            </a:pPr>
            <a:r>
              <a:rPr lang="en-US" b="true" sz="430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Se definió y documentó la base funcional y técnica del módulo.</a:t>
            </a:r>
          </a:p>
          <a:p>
            <a:pPr algn="l" marL="928371" indent="-464186" lvl="1">
              <a:lnSpc>
                <a:spcPts val="5160"/>
              </a:lnSpc>
              <a:buFont typeface="Arial"/>
              <a:buChar char="•"/>
            </a:pPr>
            <a:r>
              <a:rPr lang="en-US" b="true" sz="430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Se estableció una planificación incremental para su desarrollo.</a:t>
            </a:r>
          </a:p>
          <a:p>
            <a:pPr algn="l" marL="928371" indent="-464186" lvl="1">
              <a:lnSpc>
                <a:spcPts val="5160"/>
              </a:lnSpc>
              <a:buFont typeface="Arial"/>
              <a:buChar char="•"/>
            </a:pPr>
            <a:r>
              <a:rPr lang="en-US" b="true" sz="430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El siguiente desafío será completar y validar la integración real con Stripe.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DAHUpORVVdw</dc:identifier>
  <dcterms:modified xsi:type="dcterms:W3CDTF">2011-08-01T06:04:30Z</dcterms:modified>
  <cp:revision>1</cp:revision>
  <dc:title>Presentacion Aprueba</dc:title>
</cp:coreProperties>
</file>